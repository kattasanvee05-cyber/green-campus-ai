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Default Extension="fntdata" ContentType="application/x-fontdata"/>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_rels/presentation.xml.rels" ContentType="application/vnd.openxmlformats-package.relationship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slideLayouts/_rels/slideLayout5.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_rels/slide9.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4.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media/image1.png" ContentType="image/png"/>
  <Override PartName="/ppt/media/image2.png" ContentType="image/png"/>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Lst>
  <p:sldSz cx="9144000" cy="51435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tBDfr" TargetMode="Externa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bg>
      <p:bgPr>
        <a:solidFill>
          <a:schemeClr val="lt1"/>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327600" y="200880"/>
            <a:ext cx="4593600" cy="3173040"/>
          </a:xfrm>
          <a:prstGeom prst="rect">
            <a:avLst/>
          </a:prstGeom>
          <a:noFill/>
          <a:ln w="0">
            <a:noFill/>
          </a:ln>
        </p:spPr>
        <p:txBody>
          <a:bodyPr lIns="91440" rIns="91440" tIns="91440" bIns="91440" anchor="t">
            <a:noAutofit/>
          </a:bodyPr>
          <a:p>
            <a:pPr indent="0">
              <a:buNone/>
            </a:pPr>
            <a:r>
              <a:rPr b="0" lang="fr-FR" sz="4500" strike="noStrike" u="none">
                <a:solidFill>
                  <a:schemeClr val="dk1"/>
                </a:solidFill>
                <a:effectLst/>
                <a:uFillTx/>
                <a:latin typeface="Arial"/>
              </a:rPr>
              <a:t>Click to edit the title text format</a:t>
            </a:r>
            <a:endParaRPr b="0" lang="fr-FR" sz="4500" strike="noStrike" u="none">
              <a:solidFill>
                <a:schemeClr val="dk1"/>
              </a:solidFill>
              <a:effectLst/>
              <a:uFillTx/>
              <a:latin typeface="Arial"/>
            </a:endParaRPr>
          </a:p>
        </p:txBody>
      </p:sp>
      <p:sp>
        <p:nvSpPr>
          <p:cNvPr id="3" name="PlaceHolder 2"/>
          <p:cNvSpPr>
            <a:spLocks noGrp="1"/>
          </p:cNvSpPr>
          <p:nvPr>
            <p:ph type="body"/>
          </p:nvPr>
        </p:nvSpPr>
        <p:spPr>
          <a:xfrm>
            <a:off x="5363640" y="0"/>
            <a:ext cx="3780360" cy="514332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4">
    <p:bg>
      <p:bgPr>
        <a:solidFill>
          <a:schemeClr val="lt1"/>
        </a:solidFill>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1026000" y="1046160"/>
            <a:ext cx="7674840" cy="926280"/>
          </a:xfrm>
          <a:prstGeom prst="rect">
            <a:avLst/>
          </a:prstGeom>
          <a:noFill/>
          <a:ln w="0">
            <a:noFill/>
          </a:ln>
        </p:spPr>
        <p:txBody>
          <a:bodyPr lIns="91440" rIns="91440" tIns="91440" bIns="91440" anchor="b">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
        <p:nvSpPr>
          <p:cNvPr id="5"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_1">
    <p:bg>
      <p:bgPr>
        <a:solidFill>
          <a:schemeClr val="lt1"/>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327600" y="209160"/>
            <a:ext cx="4669560" cy="1027440"/>
          </a:xfrm>
          <a:prstGeom prst="rect">
            <a:avLst/>
          </a:prstGeom>
          <a:noFill/>
          <a:ln w="0">
            <a:noFill/>
          </a:ln>
        </p:spPr>
        <p:txBody>
          <a:bodyPr lIns="91440" rIns="91440" tIns="91440" bIns="91440" anchor="b">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
        <p:nvSpPr>
          <p:cNvPr id="7" name="PlaceHolder 2"/>
          <p:cNvSpPr>
            <a:spLocks noGrp="1"/>
          </p:cNvSpPr>
          <p:nvPr>
            <p:ph type="body"/>
          </p:nvPr>
        </p:nvSpPr>
        <p:spPr>
          <a:xfrm>
            <a:off x="5230800" y="0"/>
            <a:ext cx="3912840" cy="515088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_1">
    <p:bg>
      <p:bgPr>
        <a:solidFill>
          <a:schemeClr val="dk1"/>
        </a:solidFill>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327600" y="240480"/>
            <a:ext cx="5539320" cy="1058400"/>
          </a:xfrm>
          <a:prstGeom prst="rect">
            <a:avLst/>
          </a:prstGeom>
          <a:noFill/>
          <a:ln w="0">
            <a:noFill/>
          </a:ln>
        </p:spPr>
        <p:txBody>
          <a:bodyPr lIns="91440" rIns="91440" tIns="91440" bIns="91440" anchor="b">
            <a:noAutofit/>
          </a:bodyPr>
          <a:p>
            <a:pPr indent="0">
              <a:buNone/>
            </a:pPr>
            <a:r>
              <a:rPr b="0" lang="fr-FR" sz="5800" strike="noStrike" u="none">
                <a:solidFill>
                  <a:schemeClr val="dk1"/>
                </a:solidFill>
                <a:effectLst/>
                <a:uFillTx/>
                <a:latin typeface="Arial"/>
              </a:rPr>
              <a:t>Click to edit the title text format</a:t>
            </a:r>
            <a:endParaRPr b="0" lang="fr-FR" sz="5800" strike="noStrike" u="none">
              <a:solidFill>
                <a:schemeClr val="dk1"/>
              </a:solidFill>
              <a:effectLst/>
              <a:uFillTx/>
              <a:latin typeface="Arial"/>
            </a:endParaRPr>
          </a:p>
        </p:txBody>
      </p:sp>
      <p:sp>
        <p:nvSpPr>
          <p:cNvPr id="9" name="Google Shape;104;p21"/>
          <p:cNvSpPr/>
          <p:nvPr/>
        </p:nvSpPr>
        <p:spPr>
          <a:xfrm>
            <a:off x="4447440" y="3757680"/>
            <a:ext cx="3998880" cy="437040"/>
          </a:xfrm>
          <a:prstGeom prst="rect">
            <a:avLst/>
          </a:prstGeom>
          <a:noFill/>
          <a:ln w="0">
            <a:noFill/>
          </a:ln>
        </p:spPr>
        <p:style>
          <a:lnRef idx="0"/>
          <a:fillRef idx="0"/>
          <a:effectRef idx="0"/>
          <a:fontRef idx="minor"/>
        </p:style>
        <p:txBody>
          <a:bodyPr tIns="91440" bIns="91440" anchor="t">
            <a:noAutofit/>
          </a:bodyPr>
          <a:p>
            <a:pPr algn="r" defTabSz="914400">
              <a:lnSpc>
                <a:spcPct val="100000"/>
              </a:lnSpc>
              <a:spcBef>
                <a:spcPts val="300"/>
              </a:spcBef>
              <a:tabLst>
                <a:tab algn="l" pos="0"/>
              </a:tabLst>
            </a:pPr>
            <a:r>
              <a:rPr b="1" lang="en" sz="1000" strike="noStrike" u="none">
                <a:solidFill>
                  <a:schemeClr val="lt1"/>
                </a:solidFill>
                <a:effectLst/>
                <a:uFillTx/>
                <a:latin typeface="Open Sans"/>
                <a:ea typeface="Open Sans"/>
              </a:rPr>
              <a:t>CREDITS:</a:t>
            </a:r>
            <a:r>
              <a:rPr b="0" lang="en" sz="1000" strike="noStrike" u="none">
                <a:solidFill>
                  <a:schemeClr val="lt1"/>
                </a:solidFill>
                <a:effectLst/>
                <a:uFillTx/>
                <a:latin typeface="Open Sans"/>
                <a:ea typeface="Open Sans"/>
              </a:rPr>
              <a:t> This presentation template was created by </a:t>
            </a:r>
            <a:r>
              <a:rPr b="1" lang="en" sz="1000" strike="noStrike" u="sng">
                <a:solidFill>
                  <a:schemeClr val="lt1"/>
                </a:solidFill>
                <a:effectLst/>
                <a:uFillTx/>
                <a:latin typeface="Open Sans"/>
                <a:ea typeface="Open Sans"/>
                <a:hlinkClick r:id="rId2"/>
              </a:rPr>
              <a:t>Slidesgo</a:t>
            </a:r>
            <a:r>
              <a:rPr b="0" lang="en" sz="1000" strike="noStrike" u="none">
                <a:solidFill>
                  <a:schemeClr val="lt1"/>
                </a:solidFill>
                <a:effectLst/>
                <a:uFillTx/>
                <a:latin typeface="Open Sans"/>
                <a:ea typeface="Open Sans"/>
              </a:rPr>
              <a:t>, and includes icons, infographics &amp; images by </a:t>
            </a:r>
            <a:r>
              <a:rPr b="1" lang="en" sz="1000" strike="noStrike" u="sng">
                <a:solidFill>
                  <a:schemeClr val="lt1"/>
                </a:solidFill>
                <a:effectLst/>
                <a:uFillTx/>
                <a:latin typeface="Open Sans"/>
                <a:ea typeface="Open Sans"/>
                <a:hlinkClick r:id="rId3"/>
              </a:rPr>
              <a:t>Freepik</a:t>
            </a:r>
            <a:r>
              <a:rPr b="0" lang="en" sz="1000" strike="noStrike" u="sng">
                <a:solidFill>
                  <a:schemeClr val="lt1"/>
                </a:solidFill>
                <a:effectLst/>
                <a:uFillTx/>
                <a:latin typeface="Open Sans"/>
                <a:ea typeface="Open Sans"/>
              </a:rPr>
              <a:t> </a:t>
            </a:r>
            <a:endParaRPr b="0" lang="en-US" sz="1000" strike="noStrike" u="none">
              <a:solidFill>
                <a:srgbClr val="ffffff"/>
              </a:solidFill>
              <a:effectLst/>
              <a:uFillTx/>
              <a:latin typeface="OpenSymbo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bg>
      <p:bgPr>
        <a:solidFill>
          <a:schemeClr val="lt1"/>
        </a:solidFill>
      </p:bgPr>
    </p:bg>
    <p:spTree>
      <p:nvGrpSpPr>
        <p:cNvPr id="1" name=""/>
        <p:cNvGrpSpPr/>
        <p:nvPr/>
      </p:nvGrpSpPr>
      <p:grpSpPr>
        <a:xfrm>
          <a:off x="0" y="0"/>
          <a:ext cx="0" cy="0"/>
          <a:chOff x="0" y="0"/>
          <a:chExt cx="0" cy="0"/>
        </a:xfrm>
      </p:grpSpPr>
      <p:sp>
        <p:nvSpPr>
          <p:cNvPr id="10" name="PlaceHolder 1"/>
          <p:cNvSpPr>
            <a:spLocks noGrp="1"/>
          </p:cNvSpPr>
          <p:nvPr>
            <p:ph type="title"/>
          </p:nvPr>
        </p:nvSpPr>
        <p:spPr>
          <a:xfrm>
            <a:off x="327600" y="253080"/>
            <a:ext cx="7703640" cy="57240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
        <p:nvSpPr>
          <p:cNvPr id="11"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cxnSp>
        <p:nvCxnSpPr>
          <p:cNvPr id="12" name="Google Shape;122;p28"/>
          <p:cNvCxnSpPr/>
          <p:nvPr/>
        </p:nvCxnSpPr>
        <p:spPr>
          <a:xfrm>
            <a:off x="-5040" y="4126680"/>
            <a:ext cx="9182160" cy="360"/>
          </a:xfrm>
          <a:prstGeom prst="straightConnector1">
            <a:avLst/>
          </a:prstGeom>
          <a:ln w="9525">
            <a:solidFill>
              <a:srgbClr val="2b3d2d"/>
            </a:solidFill>
            <a:round/>
          </a:ln>
        </p:spPr>
      </p:cxnSp>
      <p:pic>
        <p:nvPicPr>
          <p:cNvPr id="13" name="Google Shape;123;p28" descr=""/>
          <p:cNvPicPr/>
          <p:nvPr/>
        </p:nvPicPr>
        <p:blipFill>
          <a:blip r:embed="rId1"/>
          <a:stretch/>
        </p:blipFill>
        <p:spPr>
          <a:xfrm>
            <a:off x="5362560" y="0"/>
            <a:ext cx="3781080" cy="5143320"/>
          </a:xfrm>
          <a:prstGeom prst="rect">
            <a:avLst/>
          </a:prstGeom>
          <a:noFill/>
          <a:ln w="0">
            <a:noFill/>
          </a:ln>
        </p:spPr>
      </p:pic>
      <p:sp>
        <p:nvSpPr>
          <p:cNvPr id="14" name=""/>
          <p:cNvSpPr/>
          <p:nvPr/>
        </p:nvSpPr>
        <p:spPr>
          <a:xfrm>
            <a:off x="324000" y="200160"/>
            <a:ext cx="4590720" cy="571320"/>
          </a:xfrm>
          <a:prstGeom prst="rect">
            <a:avLst/>
          </a:prstGeom>
          <a:noFill/>
          <a:ln w="0">
            <a:noFill/>
          </a:ln>
        </p:spPr>
        <p:style>
          <a:lnRef idx="0"/>
          <a:fillRef idx="0"/>
          <a:effectRef idx="0"/>
          <a:fontRef idx="minor"/>
        </p:style>
        <p:txBody>
          <a:bodyPr anchor="t">
            <a:normAutofit fontScale="85000" lnSpcReduction="19999"/>
          </a:bodyPr>
          <a:p>
            <a:pPr defTabSz="914400">
              <a:lnSpc>
                <a:spcPct val="100000"/>
              </a:lnSpc>
              <a:tabLst>
                <a:tab algn="l" pos="0"/>
              </a:tabLst>
            </a:pPr>
            <a:r>
              <a:rPr b="0" lang="en-US" sz="4500" strike="noStrike" u="none">
                <a:solidFill>
                  <a:srgbClr val="2b3d2d"/>
                </a:solidFill>
                <a:effectLst/>
                <a:uFillTx/>
                <a:latin typeface="Manrope"/>
              </a:rPr>
              <a:t>Green Campus AI</a:t>
            </a:r>
            <a:endParaRPr b="0" lang="en-US" sz="4500" strike="noStrike" u="none">
              <a:solidFill>
                <a:srgbClr val="000000"/>
              </a:solidFill>
              <a:effectLst/>
              <a:uFillTx/>
              <a:latin typeface="OpenSymbol"/>
            </a:endParaRPr>
          </a:p>
        </p:txBody>
      </p:sp>
      <p:sp>
        <p:nvSpPr>
          <p:cNvPr id="15" name=""/>
          <p:cNvSpPr/>
          <p:nvPr/>
        </p:nvSpPr>
        <p:spPr>
          <a:xfrm>
            <a:off x="324000" y="4210200"/>
            <a:ext cx="4590720" cy="228240"/>
          </a:xfrm>
          <a:prstGeom prst="rect">
            <a:avLst/>
          </a:prstGeom>
          <a:noFill/>
          <a:ln w="0">
            <a:noFill/>
          </a:ln>
        </p:spPr>
        <p:style>
          <a:lnRef idx="0"/>
          <a:fillRef idx="0"/>
          <a:effectRef idx="0"/>
          <a:fontRef idx="minor"/>
        </p:style>
        <p:txBody>
          <a:bodyPr anchor="t">
            <a:normAutofit fontScale="55000" lnSpcReduction="19999"/>
          </a:bodyPr>
          <a:p>
            <a:pPr defTabSz="914400">
              <a:lnSpc>
                <a:spcPct val="150000"/>
              </a:lnSpc>
              <a:tabLst>
                <a:tab algn="l" pos="0"/>
              </a:tabLst>
            </a:pPr>
            <a:r>
              <a:rPr b="0" lang="en-US" sz="1200" strike="noStrike" u="none">
                <a:solidFill>
                  <a:srgbClr val="2b3d2d"/>
                </a:solidFill>
                <a:effectLst/>
                <a:uFillTx/>
                <a:latin typeface="Open Sans"/>
              </a:rPr>
              <a:t>AI-Powered Sustainability Management &amp; Decision Support</a:t>
            </a:r>
            <a:endParaRPr b="0" lang="en-US" sz="1200" strike="noStrike" u="none">
              <a:solidFill>
                <a:srgbClr val="000000"/>
              </a:solidFill>
              <a:effectLst/>
              <a:uFillTx/>
              <a:latin typeface="OpenSymbol"/>
            </a:endParaRPr>
          </a:p>
        </p:txBody>
      </p:sp>
      <p:sp>
        <p:nvSpPr>
          <p:cNvPr id="16" name=""/>
          <p:cNvSpPr/>
          <p:nvPr/>
        </p:nvSpPr>
        <p:spPr>
          <a:xfrm>
            <a:off x="476280" y="1733400"/>
            <a:ext cx="2285640" cy="761760"/>
          </a:xfrm>
          <a:prstGeom prst="rect">
            <a:avLst/>
          </a:prstGeom>
          <a:noFill/>
          <a:ln w="0">
            <a:noFill/>
          </a:ln>
        </p:spPr>
        <p:style>
          <a:lnRef idx="0"/>
          <a:fillRef idx="0"/>
          <a:effectRef idx="0"/>
          <a:fontRef idx="minor"/>
        </p:style>
        <p:txBody>
          <a:bodyPr anchor="t">
            <a:normAutofit fontScale="92500" lnSpcReduction="9999"/>
          </a:bodyPr>
          <a:p>
            <a:pPr defTabSz="914400">
              <a:lnSpc>
                <a:spcPct val="100000"/>
              </a:lnSpc>
              <a:tabLst>
                <a:tab algn="l" pos="0"/>
              </a:tabLst>
            </a:pPr>
            <a:r>
              <a:rPr b="1" lang="en-US" sz="1200" strike="noStrike" u="none">
                <a:solidFill>
                  <a:srgbClr val="2b3d2d"/>
                </a:solidFill>
                <a:effectLst/>
                <a:uFillTx/>
                <a:latin typeface="Open Sans"/>
              </a:rPr>
              <a:t>Katta Sanvee</a:t>
            </a:r>
            <a:endParaRPr b="0" lang="en-US" sz="1200" strike="noStrike" u="none">
              <a:solidFill>
                <a:srgbClr val="000000"/>
              </a:solidFill>
              <a:effectLst/>
              <a:uFillTx/>
              <a:latin typeface="OpenSymbol"/>
            </a:endParaRPr>
          </a:p>
          <a:p>
            <a:pPr defTabSz="914400">
              <a:lnSpc>
                <a:spcPct val="100000"/>
              </a:lnSpc>
              <a:tabLst>
                <a:tab algn="l" pos="0"/>
              </a:tabLst>
            </a:pPr>
            <a:endParaRPr b="0" lang="en-US" sz="1200" strike="noStrike" u="none">
              <a:solidFill>
                <a:srgbClr val="000000"/>
              </a:solidFill>
              <a:effectLst/>
              <a:uFillTx/>
              <a:latin typeface="OpenSymbol"/>
            </a:endParaRPr>
          </a:p>
          <a:p>
            <a:pPr defTabSz="914400">
              <a:lnSpc>
                <a:spcPct val="100000"/>
              </a:lnSpc>
              <a:tabLst>
                <a:tab algn="l" pos="0"/>
              </a:tabLst>
            </a:pPr>
            <a:r>
              <a:rPr b="0" lang="en-US" sz="1200" strike="noStrike" u="none">
                <a:solidFill>
                  <a:srgbClr val="2b3d2d"/>
                </a:solidFill>
                <a:effectLst/>
                <a:uFillTx/>
                <a:latin typeface="Open Sans"/>
              </a:rPr>
              <a:t>Internship Identifier: INTERNSHIP_17828984086a44dee80acf6</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cxnSp>
        <p:nvCxnSpPr>
          <p:cNvPr id="17" name="Google Shape;177;p33"/>
          <p:cNvCxnSpPr/>
          <p:nvPr/>
        </p:nvCxnSpPr>
        <p:spPr>
          <a:xfrm>
            <a:off x="-5040" y="2017440"/>
            <a:ext cx="9182160" cy="360"/>
          </a:xfrm>
          <a:prstGeom prst="straightConnector1">
            <a:avLst/>
          </a:prstGeom>
          <a:ln w="9525">
            <a:solidFill>
              <a:srgbClr val="2b3d2d"/>
            </a:solidFill>
            <a:round/>
          </a:ln>
        </p:spPr>
      </p:cxnSp>
      <p:sp>
        <p:nvSpPr>
          <p:cNvPr id="18" name=""/>
          <p:cNvSpPr/>
          <p:nvPr/>
        </p:nvSpPr>
        <p:spPr>
          <a:xfrm>
            <a:off x="1028880" y="1047600"/>
            <a:ext cx="7676640" cy="380520"/>
          </a:xfrm>
          <a:prstGeom prst="rect">
            <a:avLst/>
          </a:prstGeom>
          <a:noFill/>
          <a:ln w="0">
            <a:noFill/>
          </a:ln>
        </p:spPr>
        <p:style>
          <a:lnRef idx="0"/>
          <a:fillRef idx="0"/>
          <a:effectRef idx="0"/>
          <a:fontRef idx="minor"/>
        </p:style>
        <p:txBody>
          <a:bodyPr anchor="b">
            <a:normAutofit fontScale="77500" lnSpcReduction="19999"/>
          </a:bodyPr>
          <a:p>
            <a:pPr algn="r" defTabSz="914400">
              <a:lnSpc>
                <a:spcPct val="100000"/>
              </a:lnSpc>
              <a:tabLst>
                <a:tab algn="l" pos="0"/>
              </a:tabLst>
            </a:pPr>
            <a:r>
              <a:rPr b="0" lang="en-US" sz="3000" strike="noStrike" u="none">
                <a:solidFill>
                  <a:srgbClr val="2b3d2d"/>
                </a:solidFill>
                <a:effectLst/>
                <a:uFillTx/>
                <a:latin typeface="Manrope"/>
              </a:rPr>
              <a:t>Data to Action</a:t>
            </a:r>
            <a:endParaRPr b="0" lang="en-US" sz="3000" strike="noStrike" u="none">
              <a:solidFill>
                <a:srgbClr val="000000"/>
              </a:solidFill>
              <a:effectLst/>
              <a:uFillTx/>
              <a:latin typeface="OpenSymbol"/>
            </a:endParaRPr>
          </a:p>
        </p:txBody>
      </p:sp>
      <p:sp>
        <p:nvSpPr>
          <p:cNvPr id="19" name=""/>
          <p:cNvSpPr/>
          <p:nvPr/>
        </p:nvSpPr>
        <p:spPr>
          <a:xfrm>
            <a:off x="1028880" y="2295360"/>
            <a:ext cx="5143320" cy="1371240"/>
          </a:xfrm>
          <a:prstGeom prst="rect">
            <a:avLst/>
          </a:prstGeom>
          <a:noFill/>
          <a:ln w="0">
            <a:noFill/>
          </a:ln>
        </p:spPr>
        <p:style>
          <a:lnRef idx="0"/>
          <a:fillRef idx="0"/>
          <a:effectRef idx="0"/>
          <a:fontRef idx="minor"/>
        </p:style>
        <p:txBody>
          <a:bodyPr anchor="t">
            <a:normAutofit lnSpcReduction="9999"/>
          </a:bodyPr>
          <a:p>
            <a:pPr defTabSz="914400">
              <a:lnSpc>
                <a:spcPct val="150000"/>
              </a:lnSpc>
              <a:tabLst>
                <a:tab algn="l" pos="0"/>
              </a:tabLst>
            </a:pPr>
            <a:r>
              <a:rPr b="0" lang="en-US" sz="1200" strike="noStrike" u="none">
                <a:solidFill>
                  <a:srgbClr val="2b3d2d"/>
                </a:solidFill>
                <a:effectLst/>
                <a:uFillTx/>
                <a:latin typeface="Open Sans"/>
              </a:rPr>
              <a:t>On campuses, sustainability data lives in silos — energy submeters, IoT water meters, waste audits, and shuttle GPS data all exist, but there's no simple way to bring them together into clear priorities. This makes it hard to decide which building to retrofit first or when to run a water-efficiency campaign, even though the data needed to guide those decisions is already there.</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cxnSp>
        <p:nvCxnSpPr>
          <p:cNvPr id="20" name="Google Shape;157;p31"/>
          <p:cNvCxnSpPr/>
          <p:nvPr/>
        </p:nvCxnSpPr>
        <p:spPr>
          <a:xfrm>
            <a:off x="-5040" y="1311120"/>
            <a:ext cx="9182160" cy="360"/>
          </a:xfrm>
          <a:prstGeom prst="straightConnector1">
            <a:avLst/>
          </a:prstGeom>
          <a:ln w="9525">
            <a:solidFill>
              <a:srgbClr val="2b3d2d"/>
            </a:solidFill>
            <a:round/>
          </a:ln>
        </p:spPr>
      </p:cxnSp>
      <p:pic>
        <p:nvPicPr>
          <p:cNvPr id="21" name="Google Shape;160;p31" descr=""/>
          <p:cNvPicPr/>
          <p:nvPr/>
        </p:nvPicPr>
        <p:blipFill>
          <a:blip r:embed="rId1"/>
          <a:stretch/>
        </p:blipFill>
        <p:spPr>
          <a:xfrm>
            <a:off x="5229360" y="0"/>
            <a:ext cx="3914280" cy="5152680"/>
          </a:xfrm>
          <a:prstGeom prst="rect">
            <a:avLst/>
          </a:prstGeom>
          <a:noFill/>
          <a:ln w="0">
            <a:noFill/>
          </a:ln>
        </p:spPr>
      </p:pic>
      <p:sp>
        <p:nvSpPr>
          <p:cNvPr id="22" name=""/>
          <p:cNvSpPr/>
          <p:nvPr/>
        </p:nvSpPr>
        <p:spPr>
          <a:xfrm>
            <a:off x="324000" y="209520"/>
            <a:ext cx="4667040" cy="333000"/>
          </a:xfrm>
          <a:prstGeom prst="rect">
            <a:avLst/>
          </a:prstGeom>
          <a:noFill/>
          <a:ln w="0">
            <a:noFill/>
          </a:ln>
        </p:spPr>
        <p:style>
          <a:lnRef idx="0"/>
          <a:fillRef idx="0"/>
          <a:effectRef idx="0"/>
          <a:fontRef idx="minor"/>
        </p:style>
        <p:txBody>
          <a:bodyPr anchor="b">
            <a:normAutofit fontScale="70000" lnSpcReduction="19999"/>
          </a:bodyPr>
          <a:p>
            <a:pPr defTabSz="914400">
              <a:lnSpc>
                <a:spcPct val="100000"/>
              </a:lnSpc>
              <a:tabLst>
                <a:tab algn="l" pos="0"/>
              </a:tabLst>
            </a:pPr>
            <a:r>
              <a:rPr b="0" lang="en-US" sz="2600" strike="noStrike" u="none">
                <a:solidFill>
                  <a:srgbClr val="2b3d2d"/>
                </a:solidFill>
                <a:effectLst/>
                <a:uFillTx/>
                <a:latin typeface="Manrope"/>
              </a:rPr>
              <a:t>SDG Alignment</a:t>
            </a:r>
            <a:endParaRPr b="0" lang="en-US" sz="2600" strike="noStrike" u="none">
              <a:solidFill>
                <a:srgbClr val="000000"/>
              </a:solidFill>
              <a:effectLst/>
              <a:uFillTx/>
              <a:latin typeface="OpenSymbol"/>
            </a:endParaRPr>
          </a:p>
        </p:txBody>
      </p:sp>
      <p:sp>
        <p:nvSpPr>
          <p:cNvPr id="23" name=""/>
          <p:cNvSpPr/>
          <p:nvPr/>
        </p:nvSpPr>
        <p:spPr>
          <a:xfrm>
            <a:off x="790560" y="1428840"/>
            <a:ext cx="4209840" cy="1828440"/>
          </a:xfrm>
          <a:prstGeom prst="rect">
            <a:avLst/>
          </a:prstGeom>
          <a:noFill/>
          <a:ln w="0">
            <a:noFill/>
          </a:ln>
        </p:spPr>
        <p:style>
          <a:lnRef idx="0"/>
          <a:fillRef idx="0"/>
          <a:effectRef idx="0"/>
          <a:fontRef idx="minor"/>
        </p:style>
        <p:txBody>
          <a:bodyPr anchor="t">
            <a:normAutofit lnSpcReduction="9999"/>
          </a:bodyPr>
          <a:p>
            <a:pPr defTabSz="914400">
              <a:lnSpc>
                <a:spcPct val="150000"/>
              </a:lnSpc>
              <a:tabLst>
                <a:tab algn="l" pos="0"/>
              </a:tabLst>
            </a:pPr>
            <a:r>
              <a:rPr b="0" lang="en-US" sz="1200" strike="noStrike" u="none">
                <a:solidFill>
                  <a:srgbClr val="2b3d2d"/>
                </a:solidFill>
                <a:effectLst/>
                <a:uFillTx/>
                <a:latin typeface="Open Sans"/>
              </a:rPr>
              <a:t>Green Campus AI directly supports SDG 11 by helping campuses make data-informed decisions that build sustainable cities and communities. It also contributes to SDG 6, 7, 12, and 13 through water monitoring and leak detection, energy demand management, waste audits, and emissions-informed planning — reinforcing its relevance for universities pursuing resilience and efficiency.</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 name=""/>
          <p:cNvSpPr/>
          <p:nvPr/>
        </p:nvSpPr>
        <p:spPr>
          <a:xfrm>
            <a:off x="476280" y="380880"/>
            <a:ext cx="8191080" cy="361440"/>
          </a:xfrm>
          <a:prstGeom prst="rect">
            <a:avLst/>
          </a:prstGeom>
          <a:noFill/>
          <a:ln w="0">
            <a:noFill/>
          </a:ln>
        </p:spPr>
        <p:style>
          <a:lnRef idx="0"/>
          <a:fillRef idx="0"/>
          <a:effectRef idx="0"/>
          <a:fontRef idx="minor"/>
        </p:style>
        <p:txBody>
          <a:bodyPr anchor="t">
            <a:normAutofit fontScale="85000" lnSpcReduction="19999"/>
          </a:bodyPr>
          <a:p>
            <a:pPr defTabSz="914400">
              <a:lnSpc>
                <a:spcPct val="100000"/>
              </a:lnSpc>
              <a:tabLst>
                <a:tab algn="l" pos="0"/>
              </a:tabLst>
            </a:pPr>
            <a:r>
              <a:rPr b="1" lang="en-US" sz="2400" strike="noStrike" u="none">
                <a:solidFill>
                  <a:srgbClr val="2b3d2d"/>
                </a:solidFill>
                <a:effectLst/>
                <a:uFillTx/>
                <a:latin typeface="Manrope"/>
              </a:rPr>
              <a:t>Distinct Needs by User Type</a:t>
            </a:r>
            <a:endParaRPr b="0" lang="en-US" sz="2400" strike="noStrike" u="none">
              <a:solidFill>
                <a:srgbClr val="000000"/>
              </a:solidFill>
              <a:effectLst/>
              <a:uFillTx/>
              <a:latin typeface="OpenSymbol"/>
            </a:endParaRPr>
          </a:p>
        </p:txBody>
      </p:sp>
      <p:sp>
        <p:nvSpPr>
          <p:cNvPr id="25" name=""/>
          <p:cNvSpPr/>
          <p:nvPr/>
        </p:nvSpPr>
        <p:spPr>
          <a:xfrm>
            <a:off x="476280" y="1333440"/>
            <a:ext cx="3904920" cy="732960"/>
          </a:xfrm>
          <a:prstGeom prst="rect">
            <a:avLst/>
          </a:prstGeom>
          <a:noFill/>
          <a:ln w="0">
            <a:noFill/>
          </a:ln>
        </p:spPr>
        <p:style>
          <a:lnRef idx="0"/>
          <a:fillRef idx="0"/>
          <a:effectRef idx="0"/>
          <a:fontRef idx="minor"/>
        </p:style>
        <p:txBody>
          <a:bodyPr anchor="t">
            <a:normAutofit fontScale="92500" lnSpcReduction="9999"/>
          </a:bodyPr>
          <a:p>
            <a:pPr defTabSz="914400">
              <a:lnSpc>
                <a:spcPct val="100000"/>
              </a:lnSpc>
              <a:tabLst>
                <a:tab algn="l" pos="0"/>
              </a:tabLst>
            </a:pPr>
            <a:r>
              <a:rPr b="0" lang="en-US" sz="1200" strike="noStrike" u="none">
                <a:solidFill>
                  <a:srgbClr val="2b3d2d"/>
                </a:solidFill>
                <a:effectLst/>
                <a:uFillTx/>
                <a:latin typeface="Open Sans"/>
              </a:rPr>
              <a:t>Students need simple, actionable guidance to make sustainable choices. They respond to low-friction, tangible ideas (like locating energy-efficient study spaces) and quick prompts that fit into study routines.</a:t>
            </a:r>
            <a:endParaRPr b="0" lang="en-US" sz="1200" strike="noStrike" u="none">
              <a:solidFill>
                <a:srgbClr val="000000"/>
              </a:solidFill>
              <a:effectLst/>
              <a:uFillTx/>
              <a:latin typeface="OpenSymbol"/>
            </a:endParaRPr>
          </a:p>
        </p:txBody>
      </p:sp>
      <p:sp>
        <p:nvSpPr>
          <p:cNvPr id="26" name=""/>
          <p:cNvSpPr/>
          <p:nvPr/>
        </p:nvSpPr>
        <p:spPr>
          <a:xfrm>
            <a:off x="4762440" y="1333440"/>
            <a:ext cx="3904920" cy="109512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2b3d2d"/>
                </a:solidFill>
                <a:effectLst/>
                <a:uFillTx/>
                <a:latin typeface="Open Sans"/>
              </a:rPr>
              <a:t>Faculty require curricular tools and classroom-level data to teach sustainability. Campus Administrators need prioritized operational actions with budget-ready recommendations, while Sustainability Teams seek consolidated monitoring, anomaly detection, and campaign management.</a:t>
            </a:r>
            <a:endParaRPr b="0" lang="en-US" sz="1200" strike="noStrike" u="none">
              <a:solidFill>
                <a:srgbClr val="000000"/>
              </a:solidFill>
              <a:effectLst/>
              <a:uFillTx/>
              <a:latin typeface="OpenSymbol"/>
            </a:endParaRPr>
          </a:p>
        </p:txBody>
      </p:sp>
      <p:sp>
        <p:nvSpPr>
          <p:cNvPr id="27" name=""/>
          <p:cNvSpPr/>
          <p:nvPr/>
        </p:nvSpPr>
        <p:spPr>
          <a:xfrm>
            <a:off x="476280" y="4381560"/>
            <a:ext cx="8191080" cy="36144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2b3d2d"/>
                </a:solidFill>
                <a:effectLst/>
                <a:uFillTx/>
                <a:latin typeface="Open Sans"/>
              </a:rPr>
              <a:t>Green Campus AI must address four distinct, concrete use cases across Students, Faculty, Campus Administrators, and Sustainability Teams.</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 name=""/>
          <p:cNvSpPr/>
          <p:nvPr/>
        </p:nvSpPr>
        <p:spPr>
          <a:xfrm>
            <a:off x="2000160" y="2104920"/>
            <a:ext cx="114120" cy="9000"/>
          </a:xfrm>
          <a:prstGeom prst="roundRect">
            <a:avLst>
              <a:gd name="adj" fmla="val 16667"/>
            </a:avLst>
          </a:prstGeom>
          <a:solidFill>
            <a:srgbClr val="2b3d2d"/>
          </a:solidFill>
          <a:ln w="0">
            <a:noFill/>
          </a:ln>
        </p:spPr>
        <p:style>
          <a:lnRef idx="0"/>
          <a:fillRef idx="0"/>
          <a:effectRef idx="0"/>
          <a:fontRef idx="minor"/>
        </p:style>
        <p:txBody>
          <a:bodyPr vertOverflow="clip" lIns="90000" rIns="90000" tIns="-36720" bIns="-3672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29" name=""/>
          <p:cNvSpPr/>
          <p:nvPr/>
        </p:nvSpPr>
        <p:spPr>
          <a:xfrm>
            <a:off x="3638520" y="2104920"/>
            <a:ext cx="114120" cy="9000"/>
          </a:xfrm>
          <a:prstGeom prst="roundRect">
            <a:avLst>
              <a:gd name="adj" fmla="val 16667"/>
            </a:avLst>
          </a:prstGeom>
          <a:solidFill>
            <a:srgbClr val="2b3d2d"/>
          </a:solidFill>
          <a:ln w="0">
            <a:noFill/>
          </a:ln>
        </p:spPr>
        <p:style>
          <a:lnRef idx="0"/>
          <a:fillRef idx="0"/>
          <a:effectRef idx="0"/>
          <a:fontRef idx="minor"/>
        </p:style>
        <p:txBody>
          <a:bodyPr vertOverflow="clip" lIns="90000" rIns="90000" tIns="-36720" bIns="-3672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30" name=""/>
          <p:cNvSpPr/>
          <p:nvPr/>
        </p:nvSpPr>
        <p:spPr>
          <a:xfrm>
            <a:off x="5276880" y="2104920"/>
            <a:ext cx="114120" cy="9000"/>
          </a:xfrm>
          <a:prstGeom prst="roundRect">
            <a:avLst>
              <a:gd name="adj" fmla="val 16667"/>
            </a:avLst>
          </a:prstGeom>
          <a:solidFill>
            <a:srgbClr val="2b3d2d"/>
          </a:solidFill>
          <a:ln w="0">
            <a:noFill/>
          </a:ln>
        </p:spPr>
        <p:style>
          <a:lnRef idx="0"/>
          <a:fillRef idx="0"/>
          <a:effectRef idx="0"/>
          <a:fontRef idx="minor"/>
        </p:style>
        <p:txBody>
          <a:bodyPr vertOverflow="clip" lIns="90000" rIns="90000" tIns="-36720" bIns="-3672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31" name=""/>
          <p:cNvSpPr/>
          <p:nvPr/>
        </p:nvSpPr>
        <p:spPr>
          <a:xfrm>
            <a:off x="6915240" y="2104920"/>
            <a:ext cx="114120" cy="9000"/>
          </a:xfrm>
          <a:prstGeom prst="roundRect">
            <a:avLst>
              <a:gd name="adj" fmla="val 16667"/>
            </a:avLst>
          </a:prstGeom>
          <a:solidFill>
            <a:srgbClr val="2b3d2d"/>
          </a:solidFill>
          <a:ln w="0">
            <a:noFill/>
          </a:ln>
        </p:spPr>
        <p:style>
          <a:lnRef idx="0"/>
          <a:fillRef idx="0"/>
          <a:effectRef idx="0"/>
          <a:fontRef idx="minor"/>
        </p:style>
        <p:txBody>
          <a:bodyPr vertOverflow="clip" lIns="90000" rIns="90000" tIns="-36720" bIns="-3672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32" name=""/>
          <p:cNvSpPr/>
          <p:nvPr/>
        </p:nvSpPr>
        <p:spPr>
          <a:xfrm>
            <a:off x="476280" y="2000160"/>
            <a:ext cx="1523520" cy="209160"/>
          </a:xfrm>
          <a:prstGeom prst="roundRect">
            <a:avLst>
              <a:gd name="adj" fmla="val 16667"/>
            </a:avLst>
          </a:prstGeom>
          <a:solidFill>
            <a:srgbClr val="263628"/>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33" name=""/>
          <p:cNvSpPr/>
          <p:nvPr/>
        </p:nvSpPr>
        <p:spPr>
          <a:xfrm>
            <a:off x="1238400" y="2209680"/>
            <a:ext cx="9000" cy="323640"/>
          </a:xfrm>
          <a:prstGeom prst="roundRect">
            <a:avLst>
              <a:gd name="adj" fmla="val 16667"/>
            </a:avLst>
          </a:prstGeom>
          <a:solidFill>
            <a:srgbClr val="2b3d2d"/>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34" name=""/>
          <p:cNvSpPr/>
          <p:nvPr/>
        </p:nvSpPr>
        <p:spPr>
          <a:xfrm>
            <a:off x="2114640" y="2000160"/>
            <a:ext cx="1523520" cy="209160"/>
          </a:xfrm>
          <a:prstGeom prst="roundRect">
            <a:avLst>
              <a:gd name="adj" fmla="val 16667"/>
            </a:avLst>
          </a:prstGeom>
          <a:solidFill>
            <a:srgbClr val="263628"/>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35" name=""/>
          <p:cNvSpPr/>
          <p:nvPr/>
        </p:nvSpPr>
        <p:spPr>
          <a:xfrm>
            <a:off x="2876400" y="2209680"/>
            <a:ext cx="9000" cy="323640"/>
          </a:xfrm>
          <a:prstGeom prst="roundRect">
            <a:avLst>
              <a:gd name="adj" fmla="val 16667"/>
            </a:avLst>
          </a:prstGeom>
          <a:solidFill>
            <a:srgbClr val="2b3d2d"/>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36" name=""/>
          <p:cNvSpPr/>
          <p:nvPr/>
        </p:nvSpPr>
        <p:spPr>
          <a:xfrm>
            <a:off x="3753000" y="2000160"/>
            <a:ext cx="1523520" cy="209160"/>
          </a:xfrm>
          <a:prstGeom prst="roundRect">
            <a:avLst>
              <a:gd name="adj" fmla="val 16667"/>
            </a:avLst>
          </a:prstGeom>
          <a:solidFill>
            <a:srgbClr val="263628"/>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37" name=""/>
          <p:cNvSpPr/>
          <p:nvPr/>
        </p:nvSpPr>
        <p:spPr>
          <a:xfrm>
            <a:off x="4514760" y="2209680"/>
            <a:ext cx="9000" cy="323640"/>
          </a:xfrm>
          <a:prstGeom prst="roundRect">
            <a:avLst>
              <a:gd name="adj" fmla="val 16667"/>
            </a:avLst>
          </a:prstGeom>
          <a:solidFill>
            <a:srgbClr val="2b3d2d"/>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38" name=""/>
          <p:cNvSpPr/>
          <p:nvPr/>
        </p:nvSpPr>
        <p:spPr>
          <a:xfrm>
            <a:off x="5391000" y="2000160"/>
            <a:ext cx="1523520" cy="209160"/>
          </a:xfrm>
          <a:prstGeom prst="roundRect">
            <a:avLst>
              <a:gd name="adj" fmla="val 16667"/>
            </a:avLst>
          </a:prstGeom>
          <a:solidFill>
            <a:srgbClr val="263628"/>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39" name=""/>
          <p:cNvSpPr/>
          <p:nvPr/>
        </p:nvSpPr>
        <p:spPr>
          <a:xfrm>
            <a:off x="6153120" y="2209680"/>
            <a:ext cx="9000" cy="323640"/>
          </a:xfrm>
          <a:prstGeom prst="roundRect">
            <a:avLst>
              <a:gd name="adj" fmla="val 16667"/>
            </a:avLst>
          </a:prstGeom>
          <a:solidFill>
            <a:srgbClr val="2b3d2d"/>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40" name=""/>
          <p:cNvSpPr/>
          <p:nvPr/>
        </p:nvSpPr>
        <p:spPr>
          <a:xfrm>
            <a:off x="7029360" y="2000160"/>
            <a:ext cx="1523520" cy="209160"/>
          </a:xfrm>
          <a:prstGeom prst="roundRect">
            <a:avLst>
              <a:gd name="adj" fmla="val 16667"/>
            </a:avLst>
          </a:prstGeom>
          <a:solidFill>
            <a:srgbClr val="263628"/>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41" name=""/>
          <p:cNvSpPr/>
          <p:nvPr/>
        </p:nvSpPr>
        <p:spPr>
          <a:xfrm>
            <a:off x="7791480" y="2209680"/>
            <a:ext cx="9000" cy="323640"/>
          </a:xfrm>
          <a:prstGeom prst="roundRect">
            <a:avLst>
              <a:gd name="adj" fmla="val 16667"/>
            </a:avLst>
          </a:prstGeom>
          <a:solidFill>
            <a:srgbClr val="2b3d2d"/>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42" name=""/>
          <p:cNvSpPr/>
          <p:nvPr/>
        </p:nvSpPr>
        <p:spPr>
          <a:xfrm>
            <a:off x="476280" y="380880"/>
            <a:ext cx="8191080" cy="399600"/>
          </a:xfrm>
          <a:prstGeom prst="rect">
            <a:avLst/>
          </a:prstGeom>
          <a:noFill/>
          <a:ln w="0">
            <a:noFill/>
          </a:ln>
        </p:spPr>
        <p:style>
          <a:lnRef idx="0"/>
          <a:fillRef idx="0"/>
          <a:effectRef idx="0"/>
          <a:fontRef idx="minor"/>
        </p:style>
        <p:txBody>
          <a:bodyPr anchor="t">
            <a:normAutofit fontScale="85000" lnSpcReduction="9999"/>
          </a:bodyPr>
          <a:p>
            <a:pPr defTabSz="914400">
              <a:lnSpc>
                <a:spcPct val="100000"/>
              </a:lnSpc>
              <a:tabLst>
                <a:tab algn="l" pos="0"/>
              </a:tabLst>
            </a:pPr>
            <a:r>
              <a:rPr b="0" lang="en-US" sz="2600" strike="noStrike" u="none">
                <a:solidFill>
                  <a:srgbClr val="2b3d2d"/>
                </a:solidFill>
                <a:effectLst/>
                <a:uFillTx/>
                <a:latin typeface="Manrope"/>
              </a:rPr>
              <a:t>Data to Action</a:t>
            </a:r>
            <a:endParaRPr b="0" lang="en-US" sz="2600" strike="noStrike" u="none">
              <a:solidFill>
                <a:srgbClr val="000000"/>
              </a:solidFill>
              <a:effectLst/>
              <a:uFillTx/>
              <a:latin typeface="OpenSymbol"/>
            </a:endParaRPr>
          </a:p>
        </p:txBody>
      </p:sp>
      <p:sp>
        <p:nvSpPr>
          <p:cNvPr id="43" name=""/>
          <p:cNvSpPr/>
          <p:nvPr/>
        </p:nvSpPr>
        <p:spPr>
          <a:xfrm>
            <a:off x="476280" y="1219320"/>
            <a:ext cx="1523520" cy="209160"/>
          </a:xfrm>
          <a:prstGeom prst="rect">
            <a:avLst/>
          </a:prstGeom>
          <a:noFill/>
          <a:ln w="0">
            <a:noFill/>
          </a:ln>
        </p:spPr>
        <p:style>
          <a:lnRef idx="0"/>
          <a:fillRef idx="0"/>
          <a:effectRef idx="0"/>
          <a:fontRef idx="minor"/>
        </p:style>
        <p:txBody>
          <a:bodyPr anchor="t">
            <a:normAutofit fontScale="62500" lnSpcReduction="19999"/>
          </a:bodyPr>
          <a:p>
            <a:pPr algn="ctr" defTabSz="914400">
              <a:lnSpc>
                <a:spcPct val="100000"/>
              </a:lnSpc>
              <a:tabLst>
                <a:tab algn="l" pos="0"/>
              </a:tabLst>
            </a:pPr>
            <a:r>
              <a:rPr b="0" lang="en-US" sz="1400" strike="noStrike" u="none">
                <a:solidFill>
                  <a:srgbClr val="2b3d2d"/>
                </a:solidFill>
                <a:effectLst/>
                <a:uFillTx/>
                <a:latin typeface="Manrope"/>
              </a:rPr>
              <a:t>Data Ingestion</a:t>
            </a:r>
            <a:endParaRPr b="0" lang="en-US" sz="1400" strike="noStrike" u="none">
              <a:solidFill>
                <a:srgbClr val="000000"/>
              </a:solidFill>
              <a:effectLst/>
              <a:uFillTx/>
              <a:latin typeface="OpenSymbol"/>
            </a:endParaRPr>
          </a:p>
        </p:txBody>
      </p:sp>
      <p:sp>
        <p:nvSpPr>
          <p:cNvPr id="44" name=""/>
          <p:cNvSpPr/>
          <p:nvPr/>
        </p:nvSpPr>
        <p:spPr>
          <a:xfrm>
            <a:off x="476280" y="2619360"/>
            <a:ext cx="1523520" cy="732960"/>
          </a:xfrm>
          <a:prstGeom prst="rect">
            <a:avLst/>
          </a:prstGeom>
          <a:noFill/>
          <a:ln w="0">
            <a:noFill/>
          </a:ln>
        </p:spPr>
        <p:style>
          <a:lnRef idx="0"/>
          <a:fillRef idx="0"/>
          <a:effectRef idx="0"/>
          <a:fontRef idx="minor"/>
        </p:style>
        <p:txBody>
          <a:bodyPr anchor="t">
            <a:normAutofit/>
          </a:bodyPr>
          <a:p>
            <a:pPr algn="ctr" defTabSz="914400">
              <a:lnSpc>
                <a:spcPct val="100000"/>
              </a:lnSpc>
              <a:tabLst>
                <a:tab algn="l" pos="0"/>
              </a:tabLst>
            </a:pPr>
            <a:r>
              <a:rPr b="0" lang="en-US" sz="1200" strike="noStrike" u="none">
                <a:solidFill>
                  <a:srgbClr val="2b3d2d"/>
                </a:solidFill>
                <a:effectLst/>
                <a:uFillTx/>
                <a:latin typeface="Open Sans"/>
              </a:rPr>
              <a:t>Connect meters, BMS, ERP, shuttle GPS, and waste-audit uploads.</a:t>
            </a:r>
            <a:endParaRPr b="0" lang="en-US" sz="1200" strike="noStrike" u="none">
              <a:solidFill>
                <a:srgbClr val="000000"/>
              </a:solidFill>
              <a:effectLst/>
              <a:uFillTx/>
              <a:latin typeface="OpenSymbol"/>
            </a:endParaRPr>
          </a:p>
        </p:txBody>
      </p:sp>
      <p:sp>
        <p:nvSpPr>
          <p:cNvPr id="45" name=""/>
          <p:cNvSpPr/>
          <p:nvPr/>
        </p:nvSpPr>
        <p:spPr>
          <a:xfrm>
            <a:off x="2114640" y="1219320"/>
            <a:ext cx="1523520" cy="428400"/>
          </a:xfrm>
          <a:prstGeom prst="rect">
            <a:avLst/>
          </a:prstGeom>
          <a:noFill/>
          <a:ln w="0">
            <a:noFill/>
          </a:ln>
        </p:spPr>
        <p:style>
          <a:lnRef idx="0"/>
          <a:fillRef idx="0"/>
          <a:effectRef idx="0"/>
          <a:fontRef idx="minor"/>
        </p:style>
        <p:txBody>
          <a:bodyPr anchor="t">
            <a:normAutofit fontScale="85000" lnSpcReduction="9999"/>
          </a:bodyPr>
          <a:p>
            <a:pPr algn="ctr" defTabSz="914400">
              <a:lnSpc>
                <a:spcPct val="100000"/>
              </a:lnSpc>
              <a:tabLst>
                <a:tab algn="l" pos="0"/>
              </a:tabLst>
            </a:pPr>
            <a:r>
              <a:rPr b="0" lang="en-US" sz="1400" strike="noStrike" u="none">
                <a:solidFill>
                  <a:srgbClr val="2b3d2d"/>
                </a:solidFill>
                <a:effectLst/>
                <a:uFillTx/>
                <a:latin typeface="Manrope"/>
              </a:rPr>
              <a:t>Normalization &amp; Storage</a:t>
            </a:r>
            <a:endParaRPr b="0" lang="en-US" sz="1400" strike="noStrike" u="none">
              <a:solidFill>
                <a:srgbClr val="000000"/>
              </a:solidFill>
              <a:effectLst/>
              <a:uFillTx/>
              <a:latin typeface="OpenSymbol"/>
            </a:endParaRPr>
          </a:p>
        </p:txBody>
      </p:sp>
      <p:sp>
        <p:nvSpPr>
          <p:cNvPr id="46" name=""/>
          <p:cNvSpPr/>
          <p:nvPr/>
        </p:nvSpPr>
        <p:spPr>
          <a:xfrm>
            <a:off x="2114640" y="2619360"/>
            <a:ext cx="1523520" cy="732960"/>
          </a:xfrm>
          <a:prstGeom prst="rect">
            <a:avLst/>
          </a:prstGeom>
          <a:noFill/>
          <a:ln w="0">
            <a:noFill/>
          </a:ln>
        </p:spPr>
        <p:style>
          <a:lnRef idx="0"/>
          <a:fillRef idx="0"/>
          <a:effectRef idx="0"/>
          <a:fontRef idx="minor"/>
        </p:style>
        <p:txBody>
          <a:bodyPr anchor="t">
            <a:normAutofit/>
          </a:bodyPr>
          <a:p>
            <a:pPr algn="ctr" defTabSz="914400">
              <a:lnSpc>
                <a:spcPct val="100000"/>
              </a:lnSpc>
              <a:tabLst>
                <a:tab algn="l" pos="0"/>
              </a:tabLst>
            </a:pPr>
            <a:r>
              <a:rPr b="0" lang="en-US" sz="1200" strike="noStrike" u="none">
                <a:solidFill>
                  <a:srgbClr val="2b3d2d"/>
                </a:solidFill>
                <a:effectLst/>
                <a:uFillTx/>
                <a:latin typeface="Open Sans"/>
              </a:rPr>
              <a:t>Time-align metrics and run quality checks to store clean data.</a:t>
            </a:r>
            <a:endParaRPr b="0" lang="en-US" sz="1200" strike="noStrike" u="none">
              <a:solidFill>
                <a:srgbClr val="000000"/>
              </a:solidFill>
              <a:effectLst/>
              <a:uFillTx/>
              <a:latin typeface="OpenSymbol"/>
            </a:endParaRPr>
          </a:p>
        </p:txBody>
      </p:sp>
      <p:sp>
        <p:nvSpPr>
          <p:cNvPr id="47" name=""/>
          <p:cNvSpPr/>
          <p:nvPr/>
        </p:nvSpPr>
        <p:spPr>
          <a:xfrm>
            <a:off x="3753000" y="1219320"/>
            <a:ext cx="1523520" cy="428400"/>
          </a:xfrm>
          <a:prstGeom prst="rect">
            <a:avLst/>
          </a:prstGeom>
          <a:noFill/>
          <a:ln w="0">
            <a:noFill/>
          </a:ln>
        </p:spPr>
        <p:style>
          <a:lnRef idx="0"/>
          <a:fillRef idx="0"/>
          <a:effectRef idx="0"/>
          <a:fontRef idx="minor"/>
        </p:style>
        <p:txBody>
          <a:bodyPr anchor="t">
            <a:normAutofit/>
          </a:bodyPr>
          <a:p>
            <a:pPr algn="ctr" defTabSz="914400">
              <a:lnSpc>
                <a:spcPct val="100000"/>
              </a:lnSpc>
              <a:tabLst>
                <a:tab algn="l" pos="0"/>
              </a:tabLst>
            </a:pPr>
            <a:r>
              <a:rPr b="0" lang="en-US" sz="1400" strike="noStrike" u="none">
                <a:solidFill>
                  <a:srgbClr val="2b3d2d"/>
                </a:solidFill>
                <a:effectLst/>
                <a:uFillTx/>
                <a:latin typeface="Manrope"/>
              </a:rPr>
              <a:t>Analytics &amp; Models</a:t>
            </a:r>
            <a:endParaRPr b="0" lang="en-US" sz="1400" strike="noStrike" u="none">
              <a:solidFill>
                <a:srgbClr val="000000"/>
              </a:solidFill>
              <a:effectLst/>
              <a:uFillTx/>
              <a:latin typeface="OpenSymbol"/>
            </a:endParaRPr>
          </a:p>
        </p:txBody>
      </p:sp>
      <p:sp>
        <p:nvSpPr>
          <p:cNvPr id="48" name=""/>
          <p:cNvSpPr/>
          <p:nvPr/>
        </p:nvSpPr>
        <p:spPr>
          <a:xfrm>
            <a:off x="3753000" y="2619360"/>
            <a:ext cx="1523520" cy="914040"/>
          </a:xfrm>
          <a:prstGeom prst="rect">
            <a:avLst/>
          </a:prstGeom>
          <a:noFill/>
          <a:ln w="0">
            <a:noFill/>
          </a:ln>
        </p:spPr>
        <p:style>
          <a:lnRef idx="0"/>
          <a:fillRef idx="0"/>
          <a:effectRef idx="0"/>
          <a:fontRef idx="minor"/>
        </p:style>
        <p:txBody>
          <a:bodyPr anchor="t">
            <a:normAutofit/>
          </a:bodyPr>
          <a:p>
            <a:pPr algn="ctr" defTabSz="914400">
              <a:lnSpc>
                <a:spcPct val="100000"/>
              </a:lnSpc>
              <a:tabLst>
                <a:tab algn="l" pos="0"/>
              </a:tabLst>
            </a:pPr>
            <a:r>
              <a:rPr b="0" lang="en-US" sz="1200" strike="noStrike" u="none">
                <a:solidFill>
                  <a:srgbClr val="2b3d2d"/>
                </a:solidFill>
                <a:effectLst/>
                <a:uFillTx/>
                <a:latin typeface="Open Sans"/>
              </a:rPr>
              <a:t>Baseline consumption, anomaly detection, and forecasting to reveal patterns.</a:t>
            </a:r>
            <a:endParaRPr b="0" lang="en-US" sz="1200" strike="noStrike" u="none">
              <a:solidFill>
                <a:srgbClr val="000000"/>
              </a:solidFill>
              <a:effectLst/>
              <a:uFillTx/>
              <a:latin typeface="OpenSymbol"/>
            </a:endParaRPr>
          </a:p>
        </p:txBody>
      </p:sp>
      <p:sp>
        <p:nvSpPr>
          <p:cNvPr id="49" name=""/>
          <p:cNvSpPr/>
          <p:nvPr/>
        </p:nvSpPr>
        <p:spPr>
          <a:xfrm>
            <a:off x="5391000" y="1219320"/>
            <a:ext cx="1523520" cy="209160"/>
          </a:xfrm>
          <a:prstGeom prst="rect">
            <a:avLst/>
          </a:prstGeom>
          <a:noFill/>
          <a:ln w="0">
            <a:noFill/>
          </a:ln>
        </p:spPr>
        <p:style>
          <a:lnRef idx="0"/>
          <a:fillRef idx="0"/>
          <a:effectRef idx="0"/>
          <a:fontRef idx="minor"/>
        </p:style>
        <p:txBody>
          <a:bodyPr anchor="t">
            <a:normAutofit fontScale="62500" lnSpcReduction="19999"/>
          </a:bodyPr>
          <a:p>
            <a:pPr algn="ctr" defTabSz="914400">
              <a:lnSpc>
                <a:spcPct val="100000"/>
              </a:lnSpc>
              <a:tabLst>
                <a:tab algn="l" pos="0"/>
              </a:tabLst>
            </a:pPr>
            <a:r>
              <a:rPr b="0" lang="en-US" sz="1400" strike="noStrike" u="none">
                <a:solidFill>
                  <a:srgbClr val="2b3d2d"/>
                </a:solidFill>
                <a:effectLst/>
                <a:uFillTx/>
                <a:latin typeface="Manrope"/>
              </a:rPr>
              <a:t>Decision Support</a:t>
            </a:r>
            <a:endParaRPr b="0" lang="en-US" sz="1400" strike="noStrike" u="none">
              <a:solidFill>
                <a:srgbClr val="000000"/>
              </a:solidFill>
              <a:effectLst/>
              <a:uFillTx/>
              <a:latin typeface="OpenSymbol"/>
            </a:endParaRPr>
          </a:p>
        </p:txBody>
      </p:sp>
      <p:sp>
        <p:nvSpPr>
          <p:cNvPr id="50" name=""/>
          <p:cNvSpPr/>
          <p:nvPr/>
        </p:nvSpPr>
        <p:spPr>
          <a:xfrm>
            <a:off x="5391000" y="2619360"/>
            <a:ext cx="1523520" cy="732960"/>
          </a:xfrm>
          <a:prstGeom prst="rect">
            <a:avLst/>
          </a:prstGeom>
          <a:noFill/>
          <a:ln w="0">
            <a:noFill/>
          </a:ln>
        </p:spPr>
        <p:style>
          <a:lnRef idx="0"/>
          <a:fillRef idx="0"/>
          <a:effectRef idx="0"/>
          <a:fontRef idx="minor"/>
        </p:style>
        <p:txBody>
          <a:bodyPr anchor="t">
            <a:normAutofit fontScale="92500" lnSpcReduction="9999"/>
          </a:bodyPr>
          <a:p>
            <a:pPr algn="ctr" defTabSz="914400">
              <a:lnSpc>
                <a:spcPct val="100000"/>
              </a:lnSpc>
              <a:tabLst>
                <a:tab algn="l" pos="0"/>
              </a:tabLst>
            </a:pPr>
            <a:r>
              <a:rPr b="0" lang="en-US" sz="1200" strike="noStrike" u="none">
                <a:solidFill>
                  <a:srgbClr val="2b3d2d"/>
                </a:solidFill>
                <a:effectLst/>
                <a:uFillTx/>
                <a:latin typeface="Open Sans"/>
              </a:rPr>
              <a:t>Priority scoring, low-cost/high-impact actions, and scenario simulations.</a:t>
            </a:r>
            <a:endParaRPr b="0" lang="en-US" sz="1200" strike="noStrike" u="none">
              <a:solidFill>
                <a:srgbClr val="000000"/>
              </a:solidFill>
              <a:effectLst/>
              <a:uFillTx/>
              <a:latin typeface="OpenSymbol"/>
            </a:endParaRPr>
          </a:p>
        </p:txBody>
      </p:sp>
      <p:sp>
        <p:nvSpPr>
          <p:cNvPr id="51" name=""/>
          <p:cNvSpPr/>
          <p:nvPr/>
        </p:nvSpPr>
        <p:spPr>
          <a:xfrm>
            <a:off x="7029360" y="1219320"/>
            <a:ext cx="1523520" cy="428400"/>
          </a:xfrm>
          <a:prstGeom prst="rect">
            <a:avLst/>
          </a:prstGeom>
          <a:noFill/>
          <a:ln w="0">
            <a:noFill/>
          </a:ln>
        </p:spPr>
        <p:style>
          <a:lnRef idx="0"/>
          <a:fillRef idx="0"/>
          <a:effectRef idx="0"/>
          <a:fontRef idx="minor"/>
        </p:style>
        <p:txBody>
          <a:bodyPr anchor="t">
            <a:normAutofit fontScale="85000" lnSpcReduction="9999"/>
          </a:bodyPr>
          <a:p>
            <a:pPr algn="ctr" defTabSz="914400">
              <a:lnSpc>
                <a:spcPct val="100000"/>
              </a:lnSpc>
              <a:tabLst>
                <a:tab algn="l" pos="0"/>
              </a:tabLst>
            </a:pPr>
            <a:r>
              <a:rPr b="0" lang="en-US" sz="1400" strike="noStrike" u="none">
                <a:solidFill>
                  <a:srgbClr val="2b3d2d"/>
                </a:solidFill>
                <a:effectLst/>
                <a:uFillTx/>
                <a:latin typeface="Manrope"/>
              </a:rPr>
              <a:t>Reporting &amp; Engagement</a:t>
            </a:r>
            <a:endParaRPr b="0" lang="en-US" sz="1400" strike="noStrike" u="none">
              <a:solidFill>
                <a:srgbClr val="000000"/>
              </a:solidFill>
              <a:effectLst/>
              <a:uFillTx/>
              <a:latin typeface="OpenSymbol"/>
            </a:endParaRPr>
          </a:p>
        </p:txBody>
      </p:sp>
      <p:sp>
        <p:nvSpPr>
          <p:cNvPr id="52" name=""/>
          <p:cNvSpPr/>
          <p:nvPr/>
        </p:nvSpPr>
        <p:spPr>
          <a:xfrm>
            <a:off x="7029360" y="2619360"/>
            <a:ext cx="1523520" cy="732960"/>
          </a:xfrm>
          <a:prstGeom prst="rect">
            <a:avLst/>
          </a:prstGeom>
          <a:noFill/>
          <a:ln w="0">
            <a:noFill/>
          </a:ln>
        </p:spPr>
        <p:style>
          <a:lnRef idx="0"/>
          <a:fillRef idx="0"/>
          <a:effectRef idx="0"/>
          <a:fontRef idx="minor"/>
        </p:style>
        <p:txBody>
          <a:bodyPr anchor="t">
            <a:normAutofit/>
          </a:bodyPr>
          <a:p>
            <a:pPr algn="ctr" defTabSz="914400">
              <a:lnSpc>
                <a:spcPct val="100000"/>
              </a:lnSpc>
              <a:tabLst>
                <a:tab algn="l" pos="0"/>
              </a:tabLst>
            </a:pPr>
            <a:r>
              <a:rPr b="0" lang="en-US" sz="1200" strike="noStrike" u="none">
                <a:solidFill>
                  <a:srgbClr val="2b3d2d"/>
                </a:solidFill>
                <a:effectLst/>
                <a:uFillTx/>
                <a:latin typeface="Open Sans"/>
              </a:rPr>
              <a:t>Dashboards, automated reports, and student-facing tips.</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 name=""/>
          <p:cNvSpPr/>
          <p:nvPr/>
        </p:nvSpPr>
        <p:spPr>
          <a:xfrm>
            <a:off x="476280" y="380880"/>
            <a:ext cx="8191080" cy="361440"/>
          </a:xfrm>
          <a:prstGeom prst="rect">
            <a:avLst/>
          </a:prstGeom>
          <a:noFill/>
          <a:ln w="0">
            <a:noFill/>
          </a:ln>
        </p:spPr>
        <p:style>
          <a:lnRef idx="0"/>
          <a:fillRef idx="0"/>
          <a:effectRef idx="0"/>
          <a:fontRef idx="minor"/>
        </p:style>
        <p:txBody>
          <a:bodyPr anchor="t">
            <a:normAutofit fontScale="85000" lnSpcReduction="19999"/>
          </a:bodyPr>
          <a:p>
            <a:pPr defTabSz="914400">
              <a:lnSpc>
                <a:spcPct val="100000"/>
              </a:lnSpc>
              <a:tabLst>
                <a:tab algn="l" pos="0"/>
              </a:tabLst>
            </a:pPr>
            <a:r>
              <a:rPr b="0" lang="en-US" sz="2400" strike="noStrike" u="none">
                <a:solidFill>
                  <a:srgbClr val="2b3d2d"/>
                </a:solidFill>
                <a:effectLst/>
                <a:uFillTx/>
                <a:latin typeface="Manrope"/>
              </a:rPr>
              <a:t>Platform Metrics</a:t>
            </a:r>
            <a:endParaRPr b="0" lang="en-US" sz="2400" strike="noStrike" u="none">
              <a:solidFill>
                <a:srgbClr val="000000"/>
              </a:solidFill>
              <a:effectLst/>
              <a:uFillTx/>
              <a:latin typeface="OpenSymbol"/>
            </a:endParaRPr>
          </a:p>
        </p:txBody>
      </p:sp>
      <p:sp>
        <p:nvSpPr>
          <p:cNvPr id="54" name=""/>
          <p:cNvSpPr/>
          <p:nvPr/>
        </p:nvSpPr>
        <p:spPr>
          <a:xfrm>
            <a:off x="476280" y="1428840"/>
            <a:ext cx="2381040" cy="209160"/>
          </a:xfrm>
          <a:prstGeom prst="rect">
            <a:avLst/>
          </a:prstGeom>
          <a:noFill/>
          <a:ln w="0">
            <a:noFill/>
          </a:ln>
        </p:spPr>
        <p:style>
          <a:lnRef idx="0"/>
          <a:fillRef idx="0"/>
          <a:effectRef idx="0"/>
          <a:fontRef idx="minor"/>
        </p:style>
        <p:txBody>
          <a:bodyPr anchor="ctr">
            <a:normAutofit fontScale="62500" lnSpcReduction="19999"/>
          </a:bodyPr>
          <a:p>
            <a:pPr defTabSz="914400">
              <a:lnSpc>
                <a:spcPct val="100000"/>
              </a:lnSpc>
              <a:tabLst>
                <a:tab algn="l" pos="0"/>
              </a:tabLst>
            </a:pPr>
            <a:r>
              <a:rPr b="0" lang="en-US" sz="1400" strike="noStrike" u="none">
                <a:solidFill>
                  <a:srgbClr val="2b3d2d"/>
                </a:solidFill>
                <a:effectLst/>
                <a:uFillTx/>
                <a:latin typeface="Open Sans"/>
              </a:rPr>
              <a:t>Data sources integrated</a:t>
            </a:r>
            <a:endParaRPr b="0" lang="en-US" sz="1400" strike="noStrike" u="none">
              <a:solidFill>
                <a:srgbClr val="000000"/>
              </a:solidFill>
              <a:effectLst/>
              <a:uFillTx/>
              <a:latin typeface="OpenSymbol"/>
            </a:endParaRPr>
          </a:p>
        </p:txBody>
      </p:sp>
      <p:sp>
        <p:nvSpPr>
          <p:cNvPr id="55" name=""/>
          <p:cNvSpPr/>
          <p:nvPr/>
        </p:nvSpPr>
        <p:spPr>
          <a:xfrm>
            <a:off x="3048120" y="1428840"/>
            <a:ext cx="2571480" cy="552240"/>
          </a:xfrm>
          <a:prstGeom prst="rect">
            <a:avLst/>
          </a:prstGeom>
          <a:noFill/>
          <a:ln w="0">
            <a:noFill/>
          </a:ln>
        </p:spPr>
        <p:style>
          <a:lnRef idx="0"/>
          <a:fillRef idx="0"/>
          <a:effectRef idx="0"/>
          <a:fontRef idx="minor"/>
        </p:style>
        <p:txBody>
          <a:bodyPr anchor="ctr">
            <a:normAutofit fontScale="92500" lnSpcReduction="9999"/>
          </a:bodyPr>
          <a:p>
            <a:pPr defTabSz="914400">
              <a:lnSpc>
                <a:spcPct val="100000"/>
              </a:lnSpc>
              <a:tabLst>
                <a:tab algn="l" pos="0"/>
              </a:tabLst>
            </a:pPr>
            <a:r>
              <a:rPr b="0" lang="en-US" sz="1200" strike="noStrike" u="none">
                <a:solidFill>
                  <a:srgbClr val="2b3d2d"/>
                </a:solidFill>
                <a:effectLst/>
                <a:uFillTx/>
                <a:latin typeface="Open Sans"/>
              </a:rPr>
              <a:t>Electricity submeters, BMS, water meters, waste audit spreadsheets, shuttle GPS, weather API.</a:t>
            </a:r>
            <a:endParaRPr b="0" lang="en-US" sz="1200" strike="noStrike" u="none">
              <a:solidFill>
                <a:srgbClr val="000000"/>
              </a:solidFill>
              <a:effectLst/>
              <a:uFillTx/>
              <a:latin typeface="OpenSymbol"/>
            </a:endParaRPr>
          </a:p>
        </p:txBody>
      </p:sp>
      <p:sp>
        <p:nvSpPr>
          <p:cNvPr id="56" name=""/>
          <p:cNvSpPr/>
          <p:nvPr/>
        </p:nvSpPr>
        <p:spPr>
          <a:xfrm>
            <a:off x="5810400" y="1428840"/>
            <a:ext cx="2857320" cy="552240"/>
          </a:xfrm>
          <a:prstGeom prst="rect">
            <a:avLst/>
          </a:prstGeom>
          <a:noFill/>
          <a:ln w="0">
            <a:noFill/>
          </a:ln>
        </p:spPr>
        <p:style>
          <a:lnRef idx="0"/>
          <a:fillRef idx="0"/>
          <a:effectRef idx="0"/>
          <a:fontRef idx="minor"/>
        </p:style>
        <p:txBody>
          <a:bodyPr anchor="ctr">
            <a:normAutofit fontScale="92500" lnSpcReduction="9999"/>
          </a:bodyPr>
          <a:p>
            <a:pPr algn="r" defTabSz="914400">
              <a:lnSpc>
                <a:spcPct val="100000"/>
              </a:lnSpc>
              <a:tabLst>
                <a:tab algn="l" pos="0"/>
              </a:tabLst>
            </a:pPr>
            <a:r>
              <a:rPr b="0" lang="en-US" sz="3600" strike="noStrike" u="none">
                <a:solidFill>
                  <a:srgbClr val="2b3d2d"/>
                </a:solidFill>
                <a:effectLst/>
                <a:uFillTx/>
                <a:latin typeface="Open Sans"/>
              </a:rPr>
              <a:t>6</a:t>
            </a:r>
            <a:endParaRPr b="0" lang="en-US" sz="3600" strike="noStrike" u="none">
              <a:solidFill>
                <a:srgbClr val="000000"/>
              </a:solidFill>
              <a:effectLst/>
              <a:uFillTx/>
              <a:latin typeface="OpenSymbol"/>
            </a:endParaRPr>
          </a:p>
        </p:txBody>
      </p:sp>
      <p:sp>
        <p:nvSpPr>
          <p:cNvPr id="57" name=""/>
          <p:cNvSpPr/>
          <p:nvPr/>
        </p:nvSpPr>
        <p:spPr>
          <a:xfrm>
            <a:off x="476280" y="2238480"/>
            <a:ext cx="2381040" cy="209160"/>
          </a:xfrm>
          <a:prstGeom prst="rect">
            <a:avLst/>
          </a:prstGeom>
          <a:noFill/>
          <a:ln w="0">
            <a:noFill/>
          </a:ln>
        </p:spPr>
        <p:style>
          <a:lnRef idx="0"/>
          <a:fillRef idx="0"/>
          <a:effectRef idx="0"/>
          <a:fontRef idx="minor"/>
        </p:style>
        <p:txBody>
          <a:bodyPr anchor="ctr">
            <a:normAutofit fontScale="62500" lnSpcReduction="19999"/>
          </a:bodyPr>
          <a:p>
            <a:pPr defTabSz="914400">
              <a:lnSpc>
                <a:spcPct val="100000"/>
              </a:lnSpc>
              <a:tabLst>
                <a:tab algn="l" pos="0"/>
              </a:tabLst>
            </a:pPr>
            <a:r>
              <a:rPr b="0" lang="en-US" sz="1400" strike="noStrike" u="none">
                <a:solidFill>
                  <a:srgbClr val="2b3d2d"/>
                </a:solidFill>
                <a:effectLst/>
                <a:uFillTx/>
                <a:latin typeface="Open Sans"/>
              </a:rPr>
              <a:t>Dashboard KPIs</a:t>
            </a:r>
            <a:endParaRPr b="0" lang="en-US" sz="1400" strike="noStrike" u="none">
              <a:solidFill>
                <a:srgbClr val="000000"/>
              </a:solidFill>
              <a:effectLst/>
              <a:uFillTx/>
              <a:latin typeface="OpenSymbol"/>
            </a:endParaRPr>
          </a:p>
        </p:txBody>
      </p:sp>
      <p:sp>
        <p:nvSpPr>
          <p:cNvPr id="58" name=""/>
          <p:cNvSpPr/>
          <p:nvPr/>
        </p:nvSpPr>
        <p:spPr>
          <a:xfrm>
            <a:off x="3048120" y="2238480"/>
            <a:ext cx="2571480" cy="552240"/>
          </a:xfrm>
          <a:prstGeom prst="rect">
            <a:avLst/>
          </a:prstGeom>
          <a:noFill/>
          <a:ln w="0">
            <a:noFill/>
          </a:ln>
        </p:spPr>
        <p:style>
          <a:lnRef idx="0"/>
          <a:fillRef idx="0"/>
          <a:effectRef idx="0"/>
          <a:fontRef idx="minor"/>
        </p:style>
        <p:txBody>
          <a:bodyPr anchor="ctr">
            <a:normAutofit fontScale="92500" lnSpcReduction="9999"/>
          </a:bodyPr>
          <a:p>
            <a:pPr defTabSz="914400">
              <a:lnSpc>
                <a:spcPct val="100000"/>
              </a:lnSpc>
              <a:tabLst>
                <a:tab algn="l" pos="0"/>
              </a:tabLst>
            </a:pPr>
            <a:r>
              <a:rPr b="0" lang="en-US" sz="1200" strike="noStrike" u="none">
                <a:solidFill>
                  <a:srgbClr val="2b3d2d"/>
                </a:solidFill>
                <a:effectLst/>
                <a:uFillTx/>
                <a:latin typeface="Open Sans"/>
              </a:rPr>
              <a:t>Five primary tiles: energy kWh, water L, waste kg, transport passenger-km, carbon proxy.</a:t>
            </a:r>
            <a:endParaRPr b="0" lang="en-US" sz="1200" strike="noStrike" u="none">
              <a:solidFill>
                <a:srgbClr val="000000"/>
              </a:solidFill>
              <a:effectLst/>
              <a:uFillTx/>
              <a:latin typeface="OpenSymbol"/>
            </a:endParaRPr>
          </a:p>
        </p:txBody>
      </p:sp>
      <p:sp>
        <p:nvSpPr>
          <p:cNvPr id="59" name=""/>
          <p:cNvSpPr/>
          <p:nvPr/>
        </p:nvSpPr>
        <p:spPr>
          <a:xfrm>
            <a:off x="5810400" y="2238480"/>
            <a:ext cx="2857320" cy="552240"/>
          </a:xfrm>
          <a:prstGeom prst="rect">
            <a:avLst/>
          </a:prstGeom>
          <a:noFill/>
          <a:ln w="0">
            <a:noFill/>
          </a:ln>
        </p:spPr>
        <p:style>
          <a:lnRef idx="0"/>
          <a:fillRef idx="0"/>
          <a:effectRef idx="0"/>
          <a:fontRef idx="minor"/>
        </p:style>
        <p:txBody>
          <a:bodyPr anchor="ctr">
            <a:normAutofit fontScale="92500" lnSpcReduction="9999"/>
          </a:bodyPr>
          <a:p>
            <a:pPr algn="r" defTabSz="914400">
              <a:lnSpc>
                <a:spcPct val="100000"/>
              </a:lnSpc>
              <a:tabLst>
                <a:tab algn="l" pos="0"/>
              </a:tabLst>
            </a:pPr>
            <a:r>
              <a:rPr b="0" lang="en-US" sz="3600" strike="noStrike" u="none">
                <a:solidFill>
                  <a:srgbClr val="2b3d2d"/>
                </a:solidFill>
                <a:effectLst/>
                <a:uFillTx/>
                <a:latin typeface="Open Sans"/>
              </a:rPr>
              <a:t>5</a:t>
            </a:r>
            <a:endParaRPr b="0" lang="en-US" sz="3600" strike="noStrike" u="none">
              <a:solidFill>
                <a:srgbClr val="000000"/>
              </a:solidFill>
              <a:effectLst/>
              <a:uFillTx/>
              <a:latin typeface="OpenSymbol"/>
            </a:endParaRPr>
          </a:p>
        </p:txBody>
      </p:sp>
      <p:sp>
        <p:nvSpPr>
          <p:cNvPr id="60" name=""/>
          <p:cNvSpPr/>
          <p:nvPr/>
        </p:nvSpPr>
        <p:spPr>
          <a:xfrm>
            <a:off x="476280" y="3048120"/>
            <a:ext cx="2381040" cy="209160"/>
          </a:xfrm>
          <a:prstGeom prst="rect">
            <a:avLst/>
          </a:prstGeom>
          <a:noFill/>
          <a:ln w="0">
            <a:noFill/>
          </a:ln>
        </p:spPr>
        <p:style>
          <a:lnRef idx="0"/>
          <a:fillRef idx="0"/>
          <a:effectRef idx="0"/>
          <a:fontRef idx="minor"/>
        </p:style>
        <p:txBody>
          <a:bodyPr anchor="ctr">
            <a:normAutofit fontScale="62500" lnSpcReduction="19999"/>
          </a:bodyPr>
          <a:p>
            <a:pPr defTabSz="914400">
              <a:lnSpc>
                <a:spcPct val="100000"/>
              </a:lnSpc>
              <a:tabLst>
                <a:tab algn="l" pos="0"/>
              </a:tabLst>
            </a:pPr>
            <a:r>
              <a:rPr b="0" lang="en-US" sz="1400" strike="noStrike" u="none">
                <a:solidFill>
                  <a:srgbClr val="2b3d2d"/>
                </a:solidFill>
                <a:effectLst/>
                <a:uFillTx/>
                <a:latin typeface="Open Sans"/>
              </a:rPr>
              <a:t>Model types deployed</a:t>
            </a:r>
            <a:endParaRPr b="0" lang="en-US" sz="1400" strike="noStrike" u="none">
              <a:solidFill>
                <a:srgbClr val="000000"/>
              </a:solidFill>
              <a:effectLst/>
              <a:uFillTx/>
              <a:latin typeface="OpenSymbol"/>
            </a:endParaRPr>
          </a:p>
        </p:txBody>
      </p:sp>
      <p:sp>
        <p:nvSpPr>
          <p:cNvPr id="61" name=""/>
          <p:cNvSpPr/>
          <p:nvPr/>
        </p:nvSpPr>
        <p:spPr>
          <a:xfrm>
            <a:off x="3048120" y="3048120"/>
            <a:ext cx="2571480" cy="361440"/>
          </a:xfrm>
          <a:prstGeom prst="rect">
            <a:avLst/>
          </a:prstGeom>
          <a:noFill/>
          <a:ln w="0">
            <a:noFill/>
          </a:ln>
        </p:spPr>
        <p:style>
          <a:lnRef idx="0"/>
          <a:fillRef idx="0"/>
          <a:effectRef idx="0"/>
          <a:fontRef idx="minor"/>
        </p:style>
        <p:txBody>
          <a:bodyPr anchor="ctr">
            <a:normAutofit fontScale="85000" lnSpcReduction="19999"/>
          </a:bodyPr>
          <a:p>
            <a:pPr defTabSz="914400">
              <a:lnSpc>
                <a:spcPct val="100000"/>
              </a:lnSpc>
              <a:tabLst>
                <a:tab algn="l" pos="0"/>
              </a:tabLst>
            </a:pPr>
            <a:r>
              <a:rPr b="0" lang="en-US" sz="1200" strike="noStrike" u="none">
                <a:solidFill>
                  <a:srgbClr val="2b3d2d"/>
                </a:solidFill>
                <a:effectLst/>
                <a:uFillTx/>
                <a:latin typeface="Open Sans"/>
              </a:rPr>
              <a:t>Anomaly detection, short-term forecasting, priority-scoring.</a:t>
            </a:r>
            <a:endParaRPr b="0" lang="en-US" sz="1200" strike="noStrike" u="none">
              <a:solidFill>
                <a:srgbClr val="000000"/>
              </a:solidFill>
              <a:effectLst/>
              <a:uFillTx/>
              <a:latin typeface="OpenSymbol"/>
            </a:endParaRPr>
          </a:p>
        </p:txBody>
      </p:sp>
      <p:sp>
        <p:nvSpPr>
          <p:cNvPr id="62" name=""/>
          <p:cNvSpPr/>
          <p:nvPr/>
        </p:nvSpPr>
        <p:spPr>
          <a:xfrm>
            <a:off x="5810400" y="3048120"/>
            <a:ext cx="2857320" cy="552240"/>
          </a:xfrm>
          <a:prstGeom prst="rect">
            <a:avLst/>
          </a:prstGeom>
          <a:noFill/>
          <a:ln w="0">
            <a:noFill/>
          </a:ln>
        </p:spPr>
        <p:style>
          <a:lnRef idx="0"/>
          <a:fillRef idx="0"/>
          <a:effectRef idx="0"/>
          <a:fontRef idx="minor"/>
        </p:style>
        <p:txBody>
          <a:bodyPr anchor="ctr">
            <a:normAutofit fontScale="92500" lnSpcReduction="9999"/>
          </a:bodyPr>
          <a:p>
            <a:pPr algn="r" defTabSz="914400">
              <a:lnSpc>
                <a:spcPct val="100000"/>
              </a:lnSpc>
              <a:tabLst>
                <a:tab algn="l" pos="0"/>
              </a:tabLst>
            </a:pPr>
            <a:r>
              <a:rPr b="0" lang="en-US" sz="3600" strike="noStrike" u="none">
                <a:solidFill>
                  <a:srgbClr val="2b3d2d"/>
                </a:solidFill>
                <a:effectLst/>
                <a:uFillTx/>
                <a:latin typeface="Open Sans"/>
              </a:rPr>
              <a:t>3</a:t>
            </a:r>
            <a:endParaRPr b="0" lang="en-US" sz="3600" strike="noStrike" u="none">
              <a:solidFill>
                <a:srgbClr val="000000"/>
              </a:solidFill>
              <a:effectLst/>
              <a:uFillTx/>
              <a:latin typeface="OpenSymbol"/>
            </a:endParaRPr>
          </a:p>
        </p:txBody>
      </p:sp>
      <p:sp>
        <p:nvSpPr>
          <p:cNvPr id="63" name=""/>
          <p:cNvSpPr/>
          <p:nvPr/>
        </p:nvSpPr>
        <p:spPr>
          <a:xfrm>
            <a:off x="476280" y="3857760"/>
            <a:ext cx="2381040" cy="209160"/>
          </a:xfrm>
          <a:prstGeom prst="rect">
            <a:avLst/>
          </a:prstGeom>
          <a:noFill/>
          <a:ln w="0">
            <a:noFill/>
          </a:ln>
        </p:spPr>
        <p:style>
          <a:lnRef idx="0"/>
          <a:fillRef idx="0"/>
          <a:effectRef idx="0"/>
          <a:fontRef idx="minor"/>
        </p:style>
        <p:txBody>
          <a:bodyPr anchor="ctr">
            <a:normAutofit fontScale="62500" lnSpcReduction="19999"/>
          </a:bodyPr>
          <a:p>
            <a:pPr defTabSz="914400">
              <a:lnSpc>
                <a:spcPct val="100000"/>
              </a:lnSpc>
              <a:tabLst>
                <a:tab algn="l" pos="0"/>
              </a:tabLst>
            </a:pPr>
            <a:r>
              <a:rPr b="0" lang="en-US" sz="1400" strike="noStrike" u="none">
                <a:solidFill>
                  <a:srgbClr val="2b3d2d"/>
                </a:solidFill>
                <a:effectLst/>
                <a:uFillTx/>
                <a:latin typeface="Open Sans"/>
              </a:rPr>
              <a:t>Reporting cadence</a:t>
            </a:r>
            <a:endParaRPr b="0" lang="en-US" sz="1400" strike="noStrike" u="none">
              <a:solidFill>
                <a:srgbClr val="000000"/>
              </a:solidFill>
              <a:effectLst/>
              <a:uFillTx/>
              <a:latin typeface="OpenSymbol"/>
            </a:endParaRPr>
          </a:p>
        </p:txBody>
      </p:sp>
      <p:sp>
        <p:nvSpPr>
          <p:cNvPr id="64" name=""/>
          <p:cNvSpPr/>
          <p:nvPr/>
        </p:nvSpPr>
        <p:spPr>
          <a:xfrm>
            <a:off x="3048120" y="3857760"/>
            <a:ext cx="2571480" cy="361440"/>
          </a:xfrm>
          <a:prstGeom prst="rect">
            <a:avLst/>
          </a:prstGeom>
          <a:noFill/>
          <a:ln w="0">
            <a:noFill/>
          </a:ln>
        </p:spPr>
        <p:style>
          <a:lnRef idx="0"/>
          <a:fillRef idx="0"/>
          <a:effectRef idx="0"/>
          <a:fontRef idx="minor"/>
        </p:style>
        <p:txBody>
          <a:bodyPr anchor="ctr">
            <a:normAutofit fontScale="85000" lnSpcReduction="19999"/>
          </a:bodyPr>
          <a:p>
            <a:pPr defTabSz="914400">
              <a:lnSpc>
                <a:spcPct val="100000"/>
              </a:lnSpc>
              <a:tabLst>
                <a:tab algn="l" pos="0"/>
              </a:tabLst>
            </a:pPr>
            <a:r>
              <a:rPr b="0" lang="en-US" sz="1200" strike="noStrike" u="none">
                <a:solidFill>
                  <a:srgbClr val="2b3d2d"/>
                </a:solidFill>
                <a:effectLst/>
                <a:uFillTx/>
                <a:latin typeface="Open Sans"/>
              </a:rPr>
              <a:t>Daily automated monitoring; monthly action reports.</a:t>
            </a:r>
            <a:endParaRPr b="0" lang="en-US" sz="1200" strike="noStrike" u="none">
              <a:solidFill>
                <a:srgbClr val="000000"/>
              </a:solidFill>
              <a:effectLst/>
              <a:uFillTx/>
              <a:latin typeface="OpenSymbol"/>
            </a:endParaRPr>
          </a:p>
        </p:txBody>
      </p:sp>
      <p:sp>
        <p:nvSpPr>
          <p:cNvPr id="65" name=""/>
          <p:cNvSpPr/>
          <p:nvPr/>
        </p:nvSpPr>
        <p:spPr>
          <a:xfrm>
            <a:off x="5810400" y="3857760"/>
            <a:ext cx="2857320" cy="552240"/>
          </a:xfrm>
          <a:prstGeom prst="rect">
            <a:avLst/>
          </a:prstGeom>
          <a:noFill/>
          <a:ln w="0">
            <a:noFill/>
          </a:ln>
        </p:spPr>
        <p:style>
          <a:lnRef idx="0"/>
          <a:fillRef idx="0"/>
          <a:effectRef idx="0"/>
          <a:fontRef idx="minor"/>
        </p:style>
        <p:txBody>
          <a:bodyPr anchor="ctr">
            <a:normAutofit fontScale="92500" lnSpcReduction="9999"/>
          </a:bodyPr>
          <a:p>
            <a:pPr algn="r" defTabSz="914400">
              <a:lnSpc>
                <a:spcPct val="100000"/>
              </a:lnSpc>
              <a:tabLst>
                <a:tab algn="l" pos="0"/>
              </a:tabLst>
            </a:pPr>
            <a:r>
              <a:rPr b="0" lang="en-US" sz="3600" strike="noStrike" u="none">
                <a:solidFill>
                  <a:srgbClr val="2b3d2d"/>
                </a:solidFill>
                <a:effectLst/>
                <a:uFillTx/>
                <a:latin typeface="Open Sans"/>
              </a:rPr>
              <a:t>Daily + 1x</a:t>
            </a:r>
            <a:endParaRPr b="0" lang="en-US" sz="36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
          <p:cNvSpPr/>
          <p:nvPr/>
        </p:nvSpPr>
        <p:spPr>
          <a:xfrm>
            <a:off x="476280" y="1866960"/>
            <a:ext cx="1914120" cy="2800080"/>
          </a:xfrm>
          <a:prstGeom prst="roundRect">
            <a:avLst>
              <a:gd name="adj" fmla="val 16667"/>
            </a:avLst>
          </a:prstGeom>
          <a:solidFill>
            <a:srgbClr val="263628"/>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67" name=""/>
          <p:cNvSpPr/>
          <p:nvPr/>
        </p:nvSpPr>
        <p:spPr>
          <a:xfrm>
            <a:off x="2523960" y="1866960"/>
            <a:ext cx="1914120" cy="2800080"/>
          </a:xfrm>
          <a:prstGeom prst="roundRect">
            <a:avLst>
              <a:gd name="adj" fmla="val 16667"/>
            </a:avLst>
          </a:prstGeom>
          <a:solidFill>
            <a:srgbClr val="263628"/>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68" name=""/>
          <p:cNvSpPr/>
          <p:nvPr/>
        </p:nvSpPr>
        <p:spPr>
          <a:xfrm>
            <a:off x="4572000" y="1866960"/>
            <a:ext cx="1914120" cy="2800080"/>
          </a:xfrm>
          <a:prstGeom prst="roundRect">
            <a:avLst>
              <a:gd name="adj" fmla="val 16667"/>
            </a:avLst>
          </a:prstGeom>
          <a:solidFill>
            <a:srgbClr val="263628"/>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69" name=""/>
          <p:cNvSpPr/>
          <p:nvPr/>
        </p:nvSpPr>
        <p:spPr>
          <a:xfrm>
            <a:off x="6620040" y="1866960"/>
            <a:ext cx="1914120" cy="2800080"/>
          </a:xfrm>
          <a:prstGeom prst="roundRect">
            <a:avLst>
              <a:gd name="adj" fmla="val 16667"/>
            </a:avLst>
          </a:prstGeom>
          <a:solidFill>
            <a:srgbClr val="263628"/>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70" name=""/>
          <p:cNvSpPr/>
          <p:nvPr/>
        </p:nvSpPr>
        <p:spPr>
          <a:xfrm>
            <a:off x="476280" y="380880"/>
            <a:ext cx="8191080" cy="399600"/>
          </a:xfrm>
          <a:prstGeom prst="rect">
            <a:avLst/>
          </a:prstGeom>
          <a:noFill/>
          <a:ln w="0">
            <a:noFill/>
          </a:ln>
        </p:spPr>
        <p:style>
          <a:lnRef idx="0"/>
          <a:fillRef idx="0"/>
          <a:effectRef idx="0"/>
          <a:fontRef idx="minor"/>
        </p:style>
        <p:txBody>
          <a:bodyPr anchor="t">
            <a:normAutofit fontScale="85000" lnSpcReduction="9999"/>
          </a:bodyPr>
          <a:p>
            <a:pPr defTabSz="914400">
              <a:lnSpc>
                <a:spcPct val="100000"/>
              </a:lnSpc>
              <a:tabLst>
                <a:tab algn="l" pos="0"/>
              </a:tabLst>
            </a:pPr>
            <a:r>
              <a:rPr b="0" lang="en-US" sz="2600" strike="noStrike" u="none">
                <a:solidFill>
                  <a:srgbClr val="2b3d2d"/>
                </a:solidFill>
                <a:effectLst/>
                <a:uFillTx/>
                <a:latin typeface="Manrope"/>
              </a:rPr>
              <a:t>Pilot Roadmap</a:t>
            </a:r>
            <a:endParaRPr b="0" lang="en-US" sz="2600" strike="noStrike" u="none">
              <a:solidFill>
                <a:srgbClr val="000000"/>
              </a:solidFill>
              <a:effectLst/>
              <a:uFillTx/>
              <a:latin typeface="OpenSymbol"/>
            </a:endParaRPr>
          </a:p>
        </p:txBody>
      </p:sp>
      <p:sp>
        <p:nvSpPr>
          <p:cNvPr id="71" name=""/>
          <p:cNvSpPr/>
          <p:nvPr/>
        </p:nvSpPr>
        <p:spPr>
          <a:xfrm>
            <a:off x="476280" y="1238400"/>
            <a:ext cx="1914120" cy="361440"/>
          </a:xfrm>
          <a:prstGeom prst="rect">
            <a:avLst/>
          </a:prstGeom>
          <a:noFill/>
          <a:ln w="0">
            <a:noFill/>
          </a:ln>
        </p:spPr>
        <p:style>
          <a:lnRef idx="0"/>
          <a:fillRef idx="0"/>
          <a:effectRef idx="0"/>
          <a:fontRef idx="minor"/>
        </p:style>
        <p:txBody>
          <a:bodyPr anchor="t">
            <a:normAutofit fontScale="85000" lnSpcReduction="19999"/>
          </a:bodyPr>
          <a:p>
            <a:pPr defTabSz="914400">
              <a:lnSpc>
                <a:spcPct val="100000"/>
              </a:lnSpc>
              <a:tabLst>
                <a:tab algn="l" pos="0"/>
              </a:tabLst>
            </a:pPr>
            <a:r>
              <a:rPr b="0" lang="en-US" sz="2400" strike="noStrike" u="none">
                <a:solidFill>
                  <a:srgbClr val="2b3d2d"/>
                </a:solidFill>
                <a:effectLst/>
                <a:uFillTx/>
                <a:latin typeface="Manrope"/>
              </a:rPr>
              <a:t>01</a:t>
            </a:r>
            <a:endParaRPr b="0" lang="en-US" sz="2400" strike="noStrike" u="none">
              <a:solidFill>
                <a:srgbClr val="000000"/>
              </a:solidFill>
              <a:effectLst/>
              <a:uFillTx/>
              <a:latin typeface="OpenSymbol"/>
            </a:endParaRPr>
          </a:p>
        </p:txBody>
      </p:sp>
      <p:sp>
        <p:nvSpPr>
          <p:cNvPr id="72" name=""/>
          <p:cNvSpPr/>
          <p:nvPr/>
        </p:nvSpPr>
        <p:spPr>
          <a:xfrm>
            <a:off x="666720" y="2133720"/>
            <a:ext cx="1533240" cy="275760"/>
          </a:xfrm>
          <a:prstGeom prst="rect">
            <a:avLst/>
          </a:prstGeom>
          <a:noFill/>
          <a:ln w="0">
            <a:noFill/>
          </a:ln>
        </p:spPr>
        <p:style>
          <a:lnRef idx="0"/>
          <a:fillRef idx="0"/>
          <a:effectRef idx="0"/>
          <a:fontRef idx="minor"/>
        </p:style>
        <p:txBody>
          <a:bodyPr anchor="t">
            <a:normAutofit fontScale="85000" lnSpcReduction="19999"/>
          </a:bodyPr>
          <a:p>
            <a:pPr defTabSz="914400">
              <a:lnSpc>
                <a:spcPct val="100000"/>
              </a:lnSpc>
              <a:tabLst>
                <a:tab algn="l" pos="0"/>
              </a:tabLst>
            </a:pPr>
            <a:r>
              <a:rPr b="0" lang="en-US" sz="1800" strike="noStrike" u="none">
                <a:solidFill>
                  <a:srgbClr val="ebe8de"/>
                </a:solidFill>
                <a:effectLst/>
                <a:uFillTx/>
                <a:latin typeface="Manrope"/>
              </a:rPr>
              <a:t>Pilot (0–3m)</a:t>
            </a:r>
            <a:endParaRPr b="0" lang="en-US" sz="1800" strike="noStrike" u="none">
              <a:solidFill>
                <a:srgbClr val="000000"/>
              </a:solidFill>
              <a:effectLst/>
              <a:uFillTx/>
              <a:latin typeface="OpenSymbol"/>
            </a:endParaRPr>
          </a:p>
        </p:txBody>
      </p:sp>
      <p:sp>
        <p:nvSpPr>
          <p:cNvPr id="73" name=""/>
          <p:cNvSpPr/>
          <p:nvPr/>
        </p:nvSpPr>
        <p:spPr>
          <a:xfrm>
            <a:off x="666720" y="2666880"/>
            <a:ext cx="1533240" cy="127584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ebe8de"/>
                </a:solidFill>
                <a:effectLst/>
                <a:uFillTx/>
                <a:latin typeface="Open Sans"/>
              </a:rPr>
              <a:t>Integrate 1–3 buildings, connect 3–4 data sources, deliver initial dashboard; establish weekly review with stakeholders.</a:t>
            </a:r>
            <a:endParaRPr b="0" lang="en-US" sz="1200" strike="noStrike" u="none">
              <a:solidFill>
                <a:srgbClr val="000000"/>
              </a:solidFill>
              <a:effectLst/>
              <a:uFillTx/>
              <a:latin typeface="OpenSymbol"/>
            </a:endParaRPr>
          </a:p>
        </p:txBody>
      </p:sp>
      <p:sp>
        <p:nvSpPr>
          <p:cNvPr id="74" name=""/>
          <p:cNvSpPr/>
          <p:nvPr/>
        </p:nvSpPr>
        <p:spPr>
          <a:xfrm>
            <a:off x="2523960" y="1238400"/>
            <a:ext cx="1914120" cy="361440"/>
          </a:xfrm>
          <a:prstGeom prst="rect">
            <a:avLst/>
          </a:prstGeom>
          <a:noFill/>
          <a:ln w="0">
            <a:noFill/>
          </a:ln>
        </p:spPr>
        <p:style>
          <a:lnRef idx="0"/>
          <a:fillRef idx="0"/>
          <a:effectRef idx="0"/>
          <a:fontRef idx="minor"/>
        </p:style>
        <p:txBody>
          <a:bodyPr anchor="t">
            <a:normAutofit fontScale="85000" lnSpcReduction="19999"/>
          </a:bodyPr>
          <a:p>
            <a:pPr defTabSz="914400">
              <a:lnSpc>
                <a:spcPct val="100000"/>
              </a:lnSpc>
              <a:tabLst>
                <a:tab algn="l" pos="0"/>
              </a:tabLst>
            </a:pPr>
            <a:r>
              <a:rPr b="0" lang="en-US" sz="2400" strike="noStrike" u="none">
                <a:solidFill>
                  <a:srgbClr val="2b3d2d"/>
                </a:solidFill>
                <a:effectLst/>
                <a:uFillTx/>
                <a:latin typeface="Manrope"/>
              </a:rPr>
              <a:t>02</a:t>
            </a:r>
            <a:endParaRPr b="0" lang="en-US" sz="2400" strike="noStrike" u="none">
              <a:solidFill>
                <a:srgbClr val="000000"/>
              </a:solidFill>
              <a:effectLst/>
              <a:uFillTx/>
              <a:latin typeface="OpenSymbol"/>
            </a:endParaRPr>
          </a:p>
        </p:txBody>
      </p:sp>
      <p:sp>
        <p:nvSpPr>
          <p:cNvPr id="75" name=""/>
          <p:cNvSpPr/>
          <p:nvPr/>
        </p:nvSpPr>
        <p:spPr>
          <a:xfrm>
            <a:off x="2714760" y="2133720"/>
            <a:ext cx="1533240" cy="552240"/>
          </a:xfrm>
          <a:prstGeom prst="rect">
            <a:avLst/>
          </a:prstGeom>
          <a:noFill/>
          <a:ln w="0">
            <a:noFill/>
          </a:ln>
        </p:spPr>
        <p:style>
          <a:lnRef idx="0"/>
          <a:fillRef idx="0"/>
          <a:effectRef idx="0"/>
          <a:fontRef idx="minor"/>
        </p:style>
        <p:txBody>
          <a:bodyPr anchor="t">
            <a:normAutofit fontScale="92500" lnSpcReduction="9999"/>
          </a:bodyPr>
          <a:p>
            <a:pPr defTabSz="914400">
              <a:lnSpc>
                <a:spcPct val="100000"/>
              </a:lnSpc>
              <a:tabLst>
                <a:tab algn="l" pos="0"/>
              </a:tabLst>
            </a:pPr>
            <a:r>
              <a:rPr b="0" lang="en-US" sz="1800" strike="noStrike" u="none">
                <a:solidFill>
                  <a:srgbClr val="ebe8de"/>
                </a:solidFill>
                <a:effectLst/>
                <a:uFillTx/>
                <a:latin typeface="Manrope"/>
              </a:rPr>
              <a:t>Validate (3–6m)</a:t>
            </a:r>
            <a:endParaRPr b="0" lang="en-US" sz="1800" strike="noStrike" u="none">
              <a:solidFill>
                <a:srgbClr val="000000"/>
              </a:solidFill>
              <a:effectLst/>
              <a:uFillTx/>
              <a:latin typeface="OpenSymbol"/>
            </a:endParaRPr>
          </a:p>
        </p:txBody>
      </p:sp>
      <p:sp>
        <p:nvSpPr>
          <p:cNvPr id="76" name=""/>
          <p:cNvSpPr/>
          <p:nvPr/>
        </p:nvSpPr>
        <p:spPr>
          <a:xfrm>
            <a:off x="2714760" y="2666880"/>
            <a:ext cx="1533240" cy="109512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ebe8de"/>
                </a:solidFill>
                <a:effectLst/>
                <a:uFillTx/>
                <a:latin typeface="Open Sans"/>
              </a:rPr>
              <a:t>Run models, refine decision rules with stakeholders, execute a small behavior campaign to test actions.</a:t>
            </a:r>
            <a:endParaRPr b="0" lang="en-US" sz="1200" strike="noStrike" u="none">
              <a:solidFill>
                <a:srgbClr val="000000"/>
              </a:solidFill>
              <a:effectLst/>
              <a:uFillTx/>
              <a:latin typeface="OpenSymbol"/>
            </a:endParaRPr>
          </a:p>
        </p:txBody>
      </p:sp>
      <p:sp>
        <p:nvSpPr>
          <p:cNvPr id="77" name=""/>
          <p:cNvSpPr/>
          <p:nvPr/>
        </p:nvSpPr>
        <p:spPr>
          <a:xfrm>
            <a:off x="4572000" y="1238400"/>
            <a:ext cx="1914120" cy="361440"/>
          </a:xfrm>
          <a:prstGeom prst="rect">
            <a:avLst/>
          </a:prstGeom>
          <a:noFill/>
          <a:ln w="0">
            <a:noFill/>
          </a:ln>
        </p:spPr>
        <p:style>
          <a:lnRef idx="0"/>
          <a:fillRef idx="0"/>
          <a:effectRef idx="0"/>
          <a:fontRef idx="minor"/>
        </p:style>
        <p:txBody>
          <a:bodyPr anchor="t">
            <a:normAutofit fontScale="85000" lnSpcReduction="19999"/>
          </a:bodyPr>
          <a:p>
            <a:pPr defTabSz="914400">
              <a:lnSpc>
                <a:spcPct val="100000"/>
              </a:lnSpc>
              <a:tabLst>
                <a:tab algn="l" pos="0"/>
              </a:tabLst>
            </a:pPr>
            <a:r>
              <a:rPr b="0" lang="en-US" sz="2400" strike="noStrike" u="none">
                <a:solidFill>
                  <a:srgbClr val="2b3d2d"/>
                </a:solidFill>
                <a:effectLst/>
                <a:uFillTx/>
                <a:latin typeface="Manrope"/>
              </a:rPr>
              <a:t>03</a:t>
            </a:r>
            <a:endParaRPr b="0" lang="en-US" sz="2400" strike="noStrike" u="none">
              <a:solidFill>
                <a:srgbClr val="000000"/>
              </a:solidFill>
              <a:effectLst/>
              <a:uFillTx/>
              <a:latin typeface="OpenSymbol"/>
            </a:endParaRPr>
          </a:p>
        </p:txBody>
      </p:sp>
      <p:sp>
        <p:nvSpPr>
          <p:cNvPr id="78" name=""/>
          <p:cNvSpPr/>
          <p:nvPr/>
        </p:nvSpPr>
        <p:spPr>
          <a:xfrm>
            <a:off x="4762440" y="2133720"/>
            <a:ext cx="1533240" cy="275760"/>
          </a:xfrm>
          <a:prstGeom prst="rect">
            <a:avLst/>
          </a:prstGeom>
          <a:noFill/>
          <a:ln w="0">
            <a:noFill/>
          </a:ln>
        </p:spPr>
        <p:style>
          <a:lnRef idx="0"/>
          <a:fillRef idx="0"/>
          <a:effectRef idx="0"/>
          <a:fontRef idx="minor"/>
        </p:style>
        <p:txBody>
          <a:bodyPr anchor="t">
            <a:normAutofit fontScale="85000" lnSpcReduction="19999"/>
          </a:bodyPr>
          <a:p>
            <a:pPr defTabSz="914400">
              <a:lnSpc>
                <a:spcPct val="100000"/>
              </a:lnSpc>
              <a:tabLst>
                <a:tab algn="l" pos="0"/>
              </a:tabLst>
            </a:pPr>
            <a:r>
              <a:rPr b="0" lang="en-US" sz="1800" strike="noStrike" u="none">
                <a:solidFill>
                  <a:srgbClr val="ebe8de"/>
                </a:solidFill>
                <a:effectLst/>
                <a:uFillTx/>
                <a:latin typeface="Manrope"/>
              </a:rPr>
              <a:t>Scale (6–18m)</a:t>
            </a:r>
            <a:endParaRPr b="0" lang="en-US" sz="1800" strike="noStrike" u="none">
              <a:solidFill>
                <a:srgbClr val="000000"/>
              </a:solidFill>
              <a:effectLst/>
              <a:uFillTx/>
              <a:latin typeface="OpenSymbol"/>
            </a:endParaRPr>
          </a:p>
        </p:txBody>
      </p:sp>
      <p:sp>
        <p:nvSpPr>
          <p:cNvPr id="79" name=""/>
          <p:cNvSpPr/>
          <p:nvPr/>
        </p:nvSpPr>
        <p:spPr>
          <a:xfrm>
            <a:off x="4762440" y="2666880"/>
            <a:ext cx="1533240" cy="127584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ebe8de"/>
                </a:solidFill>
                <a:effectLst/>
                <a:uFillTx/>
                <a:latin typeface="Open Sans"/>
              </a:rPr>
              <a:t>Expand to campus-wide data, integrate budgeting and maintenance workflows for sustainable operations.</a:t>
            </a:r>
            <a:endParaRPr b="0" lang="en-US" sz="1200" strike="noStrike" u="none">
              <a:solidFill>
                <a:srgbClr val="000000"/>
              </a:solidFill>
              <a:effectLst/>
              <a:uFillTx/>
              <a:latin typeface="OpenSymbol"/>
            </a:endParaRPr>
          </a:p>
        </p:txBody>
      </p:sp>
      <p:sp>
        <p:nvSpPr>
          <p:cNvPr id="80" name=""/>
          <p:cNvSpPr/>
          <p:nvPr/>
        </p:nvSpPr>
        <p:spPr>
          <a:xfrm>
            <a:off x="6620040" y="1238400"/>
            <a:ext cx="1914120" cy="361440"/>
          </a:xfrm>
          <a:prstGeom prst="rect">
            <a:avLst/>
          </a:prstGeom>
          <a:noFill/>
          <a:ln w="0">
            <a:noFill/>
          </a:ln>
        </p:spPr>
        <p:style>
          <a:lnRef idx="0"/>
          <a:fillRef idx="0"/>
          <a:effectRef idx="0"/>
          <a:fontRef idx="minor"/>
        </p:style>
        <p:txBody>
          <a:bodyPr anchor="t">
            <a:normAutofit fontScale="85000" lnSpcReduction="19999"/>
          </a:bodyPr>
          <a:p>
            <a:pPr defTabSz="914400">
              <a:lnSpc>
                <a:spcPct val="100000"/>
              </a:lnSpc>
              <a:tabLst>
                <a:tab algn="l" pos="0"/>
              </a:tabLst>
            </a:pPr>
            <a:r>
              <a:rPr b="0" lang="en-US" sz="2400" strike="noStrike" u="none">
                <a:solidFill>
                  <a:srgbClr val="2b3d2d"/>
                </a:solidFill>
                <a:effectLst/>
                <a:uFillTx/>
                <a:latin typeface="Manrope"/>
              </a:rPr>
              <a:t>04</a:t>
            </a:r>
            <a:endParaRPr b="0" lang="en-US" sz="2400" strike="noStrike" u="none">
              <a:solidFill>
                <a:srgbClr val="000000"/>
              </a:solidFill>
              <a:effectLst/>
              <a:uFillTx/>
              <a:latin typeface="OpenSymbol"/>
            </a:endParaRPr>
          </a:p>
        </p:txBody>
      </p:sp>
      <p:sp>
        <p:nvSpPr>
          <p:cNvPr id="81" name=""/>
          <p:cNvSpPr/>
          <p:nvPr/>
        </p:nvSpPr>
        <p:spPr>
          <a:xfrm>
            <a:off x="6810480" y="2133720"/>
            <a:ext cx="1533240" cy="55224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800" strike="noStrike" u="none">
                <a:solidFill>
                  <a:srgbClr val="ebe8de"/>
                </a:solidFill>
                <a:effectLst/>
                <a:uFillTx/>
                <a:latin typeface="Manrope"/>
              </a:rPr>
              <a:t>Institutionalize</a:t>
            </a:r>
            <a:endParaRPr b="0" lang="en-US" sz="1800" strike="noStrike" u="none">
              <a:solidFill>
                <a:srgbClr val="000000"/>
              </a:solidFill>
              <a:effectLst/>
              <a:uFillTx/>
              <a:latin typeface="OpenSymbol"/>
            </a:endParaRPr>
          </a:p>
        </p:txBody>
      </p:sp>
      <p:sp>
        <p:nvSpPr>
          <p:cNvPr id="82" name=""/>
          <p:cNvSpPr/>
          <p:nvPr/>
        </p:nvSpPr>
        <p:spPr>
          <a:xfrm>
            <a:off x="6810480" y="2666880"/>
            <a:ext cx="1533240" cy="1275840"/>
          </a:xfrm>
          <a:prstGeom prst="rect">
            <a:avLst/>
          </a:prstGeom>
          <a:noFill/>
          <a:ln w="0">
            <a:noFill/>
          </a:ln>
        </p:spPr>
        <p:style>
          <a:lnRef idx="0"/>
          <a:fillRef idx="0"/>
          <a:effectRef idx="0"/>
          <a:fontRef idx="minor"/>
        </p:style>
        <p:txBody>
          <a:bodyPr anchor="t">
            <a:normAutofit lnSpcReduction="9999"/>
          </a:bodyPr>
          <a:p>
            <a:pPr defTabSz="914400">
              <a:lnSpc>
                <a:spcPct val="100000"/>
              </a:lnSpc>
              <a:tabLst>
                <a:tab algn="l" pos="0"/>
              </a:tabLst>
            </a:pPr>
            <a:r>
              <a:rPr b="0" lang="en-US" sz="1200" strike="noStrike" u="none">
                <a:solidFill>
                  <a:srgbClr val="ebe8de"/>
                </a:solidFill>
                <a:effectLst/>
                <a:uFillTx/>
                <a:latin typeface="Open Sans"/>
              </a:rPr>
              <a:t>Embed into campus sustainability operations and curriculum, with ongoing data quality and stakeholder engagement checks.</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cxnSp>
        <p:nvCxnSpPr>
          <p:cNvPr id="83" name="Google Shape;177;p33"/>
          <p:cNvCxnSpPr/>
          <p:nvPr/>
        </p:nvCxnSpPr>
        <p:spPr>
          <a:xfrm>
            <a:off x="-5040" y="2017440"/>
            <a:ext cx="9182160" cy="360"/>
          </a:xfrm>
          <a:prstGeom prst="straightConnector1">
            <a:avLst/>
          </a:prstGeom>
          <a:ln w="9525">
            <a:solidFill>
              <a:srgbClr val="2b3d2d"/>
            </a:solidFill>
            <a:round/>
          </a:ln>
        </p:spPr>
      </p:cxnSp>
      <p:sp>
        <p:nvSpPr>
          <p:cNvPr id="84" name=""/>
          <p:cNvSpPr/>
          <p:nvPr/>
        </p:nvSpPr>
        <p:spPr>
          <a:xfrm>
            <a:off x="1028880" y="1047600"/>
            <a:ext cx="7676640" cy="380520"/>
          </a:xfrm>
          <a:prstGeom prst="rect">
            <a:avLst/>
          </a:prstGeom>
          <a:noFill/>
          <a:ln w="0">
            <a:noFill/>
          </a:ln>
        </p:spPr>
        <p:style>
          <a:lnRef idx="0"/>
          <a:fillRef idx="0"/>
          <a:effectRef idx="0"/>
          <a:fontRef idx="minor"/>
        </p:style>
        <p:txBody>
          <a:bodyPr anchor="b">
            <a:normAutofit fontScale="77500" lnSpcReduction="19999"/>
          </a:bodyPr>
          <a:p>
            <a:pPr algn="r" defTabSz="914400">
              <a:lnSpc>
                <a:spcPct val="100000"/>
              </a:lnSpc>
              <a:tabLst>
                <a:tab algn="l" pos="0"/>
              </a:tabLst>
            </a:pPr>
            <a:r>
              <a:rPr b="0" lang="en-US" sz="3000" strike="noStrike" u="none">
                <a:solidFill>
                  <a:srgbClr val="2b3d2d"/>
                </a:solidFill>
                <a:effectLst/>
                <a:uFillTx/>
                <a:latin typeface="Manrope"/>
              </a:rPr>
              <a:t>Actionable Campus Intelligence</a:t>
            </a:r>
            <a:endParaRPr b="0" lang="en-US" sz="3000" strike="noStrike" u="none">
              <a:solidFill>
                <a:srgbClr val="000000"/>
              </a:solidFill>
              <a:effectLst/>
              <a:uFillTx/>
              <a:latin typeface="OpenSymbol"/>
            </a:endParaRPr>
          </a:p>
        </p:txBody>
      </p:sp>
      <p:sp>
        <p:nvSpPr>
          <p:cNvPr id="85" name=""/>
          <p:cNvSpPr/>
          <p:nvPr/>
        </p:nvSpPr>
        <p:spPr>
          <a:xfrm>
            <a:off x="1028880" y="2295360"/>
            <a:ext cx="5143320" cy="1371240"/>
          </a:xfrm>
          <a:prstGeom prst="rect">
            <a:avLst/>
          </a:prstGeom>
          <a:noFill/>
          <a:ln w="0">
            <a:noFill/>
          </a:ln>
        </p:spPr>
        <p:style>
          <a:lnRef idx="0"/>
          <a:fillRef idx="0"/>
          <a:effectRef idx="0"/>
          <a:fontRef idx="minor"/>
        </p:style>
        <p:txBody>
          <a:bodyPr anchor="t">
            <a:normAutofit fontScale="85000" lnSpcReduction="9999"/>
          </a:bodyPr>
          <a:p>
            <a:pPr defTabSz="914400">
              <a:lnSpc>
                <a:spcPct val="150000"/>
              </a:lnSpc>
              <a:tabLst>
                <a:tab algn="l" pos="0"/>
              </a:tabLst>
            </a:pPr>
            <a:r>
              <a:rPr b="0" lang="en-US" sz="1200" strike="noStrike" u="none">
                <a:solidFill>
                  <a:srgbClr val="2b3d2d"/>
                </a:solidFill>
                <a:effectLst/>
                <a:uFillTx/>
                <a:latin typeface="Open Sans"/>
              </a:rPr>
              <a:t>- Turns campus data into prioritized, practical actions via AI-backed dashboards and decision workflows.</a:t>
            </a:r>
            <a:endParaRPr b="0" lang="en-US" sz="1200" strike="noStrike" u="none">
              <a:solidFill>
                <a:srgbClr val="000000"/>
              </a:solidFill>
              <a:effectLst/>
              <a:uFillTx/>
              <a:latin typeface="OpenSymbol"/>
            </a:endParaRPr>
          </a:p>
          <a:p>
            <a:pPr defTabSz="914400">
              <a:lnSpc>
                <a:spcPct val="150000"/>
              </a:lnSpc>
              <a:tabLst>
                <a:tab algn="l" pos="0"/>
              </a:tabLst>
            </a:pPr>
            <a:r>
              <a:rPr b="0" lang="en-US" sz="1200" strike="noStrike" u="none">
                <a:solidFill>
                  <a:srgbClr val="2b3d2d"/>
                </a:solidFill>
                <a:effectLst/>
                <a:uFillTx/>
                <a:latin typeface="Open Sans"/>
              </a:rPr>
              <a:t>- Serves students, faculty, administrators, and sustainability teams for faster, informed decisions.</a:t>
            </a:r>
            <a:endParaRPr b="0" lang="en-US" sz="1200" strike="noStrike" u="none">
              <a:solidFill>
                <a:srgbClr val="000000"/>
              </a:solidFill>
              <a:effectLst/>
              <a:uFillTx/>
              <a:latin typeface="OpenSymbol"/>
            </a:endParaRPr>
          </a:p>
          <a:p>
            <a:pPr defTabSz="914400">
              <a:lnSpc>
                <a:spcPct val="150000"/>
              </a:lnSpc>
              <a:tabLst>
                <a:tab algn="l" pos="0"/>
              </a:tabLst>
            </a:pPr>
            <a:r>
              <a:rPr b="0" lang="en-US" sz="1200" strike="noStrike" u="none">
                <a:solidFill>
                  <a:srgbClr val="2b3d2d"/>
                </a:solidFill>
                <a:effectLst/>
                <a:uFillTx/>
                <a:latin typeface="Open Sans"/>
              </a:rPr>
              <a:t>- Aligns with SDG 11 and related SDGs (6, 7, 12, 13); clear architecture and pilot roadmap enable test, learn, scale.</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324000" y="227880"/>
            <a:ext cx="5543280" cy="1067040"/>
          </a:xfrm>
          <a:prstGeom prst="rect">
            <a:avLst/>
          </a:prstGeom>
          <a:noFill/>
          <a:ln w="0">
            <a:noFill/>
          </a:ln>
        </p:spPr>
        <p:txBody>
          <a:bodyPr lIns="91440" rIns="91440" tIns="91440" bIns="91440" anchor="b">
            <a:spAutoFit/>
          </a:bodyPr>
          <a:p>
            <a:pPr indent="0">
              <a:lnSpc>
                <a:spcPct val="100000"/>
              </a:lnSpc>
              <a:buNone/>
              <a:tabLst>
                <a:tab algn="l" pos="0"/>
              </a:tabLst>
            </a:pPr>
            <a:r>
              <a:rPr b="0" lang="en" sz="5800" strike="noStrike" u="none">
                <a:solidFill>
                  <a:schemeClr val="lt1"/>
                </a:solidFill>
                <a:effectLst/>
                <a:uFillTx/>
                <a:latin typeface="Manrope"/>
                <a:ea typeface="Manrope"/>
              </a:rPr>
              <a:t>THANK YOU</a:t>
            </a:r>
            <a:endParaRPr b="0" lang="fr-FR" sz="5800" strike="noStrike" u="none">
              <a:solidFill>
                <a:schemeClr val="dk1"/>
              </a:solidFill>
              <a:effectLst/>
              <a:uFillTx/>
              <a:latin typeface="Arial"/>
            </a:endParaRPr>
          </a:p>
        </p:txBody>
      </p:sp>
      <p:sp>
        <p:nvSpPr>
          <p:cNvPr id="87" name="PlaceHolder 2"/>
          <p:cNvSpPr>
            <a:spLocks noGrp="1"/>
          </p:cNvSpPr>
          <p:nvPr>
            <p:ph type="subTitle"/>
          </p:nvPr>
        </p:nvSpPr>
        <p:spPr>
          <a:xfrm>
            <a:off x="4000680" y="2038320"/>
            <a:ext cx="4447800" cy="1057320"/>
          </a:xfrm>
          <a:prstGeom prst="rect">
            <a:avLst/>
          </a:prstGeom>
          <a:noFill/>
          <a:ln w="0">
            <a:noFill/>
          </a:ln>
        </p:spPr>
        <p:txBody>
          <a:bodyPr lIns="91440" rIns="91440" tIns="91440" bIns="91440" anchor="t">
            <a:spAutoFit/>
          </a:bodyPr>
          <a:p>
            <a:pPr indent="0" algn="r">
              <a:lnSpc>
                <a:spcPct val="100000"/>
              </a:lnSpc>
              <a:buNone/>
              <a:tabLst>
                <a:tab algn="l" pos="0"/>
              </a:tabLst>
            </a:pPr>
            <a:r>
              <a:rPr b="1" lang="en" sz="1200" strike="noStrike" u="none">
                <a:solidFill>
                  <a:schemeClr val="lt1"/>
                </a:solidFill>
                <a:effectLst/>
                <a:uFillTx/>
                <a:latin typeface="Open Sans"/>
                <a:ea typeface="Open Sans"/>
              </a:rPr>
              <a:t>Do you have any questions?</a:t>
            </a:r>
            <a:endParaRPr b="0" lang="en-US" sz="1200" strike="noStrike" u="none">
              <a:solidFill>
                <a:srgbClr val="ffffff"/>
              </a:solidFill>
              <a:effectLst/>
              <a:uFillTx/>
              <a:latin typeface="OpenSymbol"/>
            </a:endParaRPr>
          </a:p>
          <a:p>
            <a:pPr indent="0" algn="r">
              <a:lnSpc>
                <a:spcPct val="100000"/>
              </a:lnSpc>
              <a:buNone/>
              <a:tabLst>
                <a:tab algn="l" pos="0"/>
              </a:tabLst>
            </a:pPr>
            <a:r>
              <a:rPr b="0" lang="en" sz="1200" strike="noStrike" u="none">
                <a:solidFill>
                  <a:schemeClr val="lt1"/>
                </a:solidFill>
                <a:effectLst/>
                <a:uFillTx/>
                <a:latin typeface="Open Sans"/>
                <a:ea typeface="Open Sans"/>
              </a:rPr>
              <a:t>youremail@freepik.com</a:t>
            </a:r>
            <a:endParaRPr b="0" lang="en-US" sz="1200" strike="noStrike" u="none">
              <a:solidFill>
                <a:srgbClr val="ffffff"/>
              </a:solidFill>
              <a:effectLst/>
              <a:uFillTx/>
              <a:latin typeface="OpenSymbol"/>
            </a:endParaRPr>
          </a:p>
          <a:p>
            <a:pPr indent="0" algn="r">
              <a:lnSpc>
                <a:spcPct val="100000"/>
              </a:lnSpc>
              <a:buNone/>
              <a:tabLst>
                <a:tab algn="l" pos="0"/>
              </a:tabLst>
            </a:pPr>
            <a:r>
              <a:rPr b="0" lang="en" sz="1200" strike="noStrike" u="none">
                <a:solidFill>
                  <a:schemeClr val="lt1"/>
                </a:solidFill>
                <a:effectLst/>
                <a:uFillTx/>
                <a:latin typeface="Open Sans"/>
                <a:ea typeface="Open Sans"/>
              </a:rPr>
              <a:t>+34 654 321 432</a:t>
            </a:r>
            <a:endParaRPr b="0" lang="en-US" sz="1200" strike="noStrike" u="none">
              <a:solidFill>
                <a:srgbClr val="ffffff"/>
              </a:solidFill>
              <a:effectLst/>
              <a:uFillTx/>
              <a:latin typeface="OpenSymbol"/>
            </a:endParaRPr>
          </a:p>
          <a:p>
            <a:pPr indent="0" algn="r">
              <a:lnSpc>
                <a:spcPct val="100000"/>
              </a:lnSpc>
              <a:buNone/>
              <a:tabLst>
                <a:tab algn="l" pos="0"/>
              </a:tabLst>
            </a:pPr>
            <a:r>
              <a:rPr b="0" lang="en" sz="1200" strike="noStrike" u="none">
                <a:solidFill>
                  <a:schemeClr val="lt1"/>
                </a:solidFill>
                <a:effectLst/>
                <a:uFillTx/>
                <a:latin typeface="Open Sans"/>
                <a:ea typeface="Open Sans"/>
              </a:rPr>
              <a:t>yourwebsite.com</a:t>
            </a:r>
            <a:endParaRPr b="0" lang="en-US" sz="1200" strike="noStrike" u="none">
              <a:solidFill>
                <a:srgbClr val="ffffff"/>
              </a:solidFill>
              <a:effectLst/>
              <a:uFillTx/>
              <a:latin typeface="OpenSymbol"/>
            </a:endParaRPr>
          </a:p>
        </p:txBody>
      </p:sp>
      <p:sp>
        <p:nvSpPr>
          <p:cNvPr id="88" name="Google Shape;310;p41"/>
          <p:cNvSpPr/>
          <p:nvPr/>
        </p:nvSpPr>
        <p:spPr>
          <a:xfrm>
            <a:off x="6648480" y="790560"/>
            <a:ext cx="437760" cy="437760"/>
          </a:xfrm>
          <a:prstGeom prst="rect">
            <a:avLst/>
          </a:prstGeom>
          <a:noFill/>
          <a:ln w="0">
            <a:noFill/>
          </a:ln>
        </p:spPr>
        <p:style>
          <a:lnRef idx="0"/>
          <a:fillRef idx="0"/>
          <a:effectRef idx="0"/>
          <a:fontRef idx="minor"/>
        </p:style>
        <p:txBody>
          <a:bodyPr lIns="870823080" rIns="870823080" tIns="218880" bIns="218880" anchor="ctr">
            <a:spAutoFit/>
          </a:bodyPr>
          <a:p>
            <a:pPr defTabSz="914400">
              <a:lnSpc>
                <a:spcPct val="100000"/>
              </a:lnSpc>
              <a:tabLst>
                <a:tab algn="l" pos="0"/>
              </a:tabLst>
            </a:pPr>
            <a:endParaRPr b="0" lang="fr-FR" sz="1800" strike="noStrike" u="none">
              <a:solidFill>
                <a:schemeClr val="dk1"/>
              </a:solidFill>
              <a:effectLst/>
              <a:uFillTx/>
              <a:latin typeface="Arial"/>
            </a:endParaRPr>
          </a:p>
        </p:txBody>
      </p:sp>
      <p:sp>
        <p:nvSpPr>
          <p:cNvPr id="89" name="Google Shape;311;p41"/>
          <p:cNvSpPr/>
          <p:nvPr/>
        </p:nvSpPr>
        <p:spPr>
          <a:xfrm>
            <a:off x="7286760" y="790560"/>
            <a:ext cx="437760" cy="437760"/>
          </a:xfrm>
          <a:prstGeom prst="rect">
            <a:avLst/>
          </a:prstGeom>
          <a:noFill/>
          <a:ln w="0">
            <a:noFill/>
          </a:ln>
        </p:spPr>
        <p:style>
          <a:lnRef idx="0"/>
          <a:fillRef idx="0"/>
          <a:effectRef idx="0"/>
          <a:fontRef idx="minor"/>
        </p:style>
        <p:txBody>
          <a:bodyPr lIns="870823080" rIns="870823080" tIns="218880" bIns="218880" anchor="ctr">
            <a:spAutoFit/>
          </a:bodyPr>
          <a:p>
            <a:pPr defTabSz="914400">
              <a:lnSpc>
                <a:spcPct val="100000"/>
              </a:lnSpc>
              <a:tabLst>
                <a:tab algn="l" pos="0"/>
              </a:tabLst>
            </a:pPr>
            <a:endParaRPr b="0" lang="fr-FR" sz="1800" strike="noStrike" u="none">
              <a:solidFill>
                <a:schemeClr val="dk1"/>
              </a:solidFill>
              <a:effectLst/>
              <a:uFillTx/>
              <a:latin typeface="Arial"/>
            </a:endParaRPr>
          </a:p>
        </p:txBody>
      </p:sp>
      <p:sp>
        <p:nvSpPr>
          <p:cNvPr id="90" name="Google Shape;312;p41"/>
          <p:cNvSpPr/>
          <p:nvPr/>
        </p:nvSpPr>
        <p:spPr>
          <a:xfrm>
            <a:off x="8010360" y="790560"/>
            <a:ext cx="437760" cy="437760"/>
          </a:xfrm>
          <a:prstGeom prst="rect">
            <a:avLst/>
          </a:prstGeom>
          <a:noFill/>
          <a:ln w="0">
            <a:noFill/>
          </a:ln>
        </p:spPr>
        <p:style>
          <a:lnRef idx="0"/>
          <a:fillRef idx="0"/>
          <a:effectRef idx="0"/>
          <a:fontRef idx="minor"/>
        </p:style>
        <p:txBody>
          <a:bodyPr lIns="870823080" rIns="870823080" tIns="218880" bIns="218880" anchor="ctr">
            <a:spAutoFit/>
          </a:bodyPr>
          <a:p>
            <a:pPr defTabSz="914400">
              <a:lnSpc>
                <a:spcPct val="100000"/>
              </a:lnSpc>
              <a:tabLst>
                <a:tab algn="l" pos="0"/>
              </a:tabLst>
            </a:pPr>
            <a:endParaRPr b="0" lang="fr-FR" sz="1800" strike="noStrike" u="none">
              <a:solidFill>
                <a:schemeClr val="dk1"/>
              </a:solidFill>
              <a:effectLst/>
              <a:uFillTx/>
              <a:latin typeface="Arial"/>
            </a:endParaRPr>
          </a:p>
        </p:txBody>
      </p:sp>
      <p:grpSp>
        <p:nvGrpSpPr>
          <p:cNvPr id="91" name="Google Shape;313;p41"/>
          <p:cNvGrpSpPr/>
          <p:nvPr/>
        </p:nvGrpSpPr>
        <p:grpSpPr>
          <a:xfrm>
            <a:off x="6734880" y="870840"/>
            <a:ext cx="275760" cy="275760"/>
            <a:chOff x="6734880" y="870840"/>
            <a:chExt cx="275760" cy="275760"/>
          </a:xfrm>
        </p:grpSpPr>
        <p:sp>
          <p:nvSpPr>
            <p:cNvPr id="92" name="Google Shape;314;p41"/>
            <p:cNvSpPr/>
            <p:nvPr/>
          </p:nvSpPr>
          <p:spPr>
            <a:xfrm>
              <a:off x="6734880" y="870840"/>
              <a:ext cx="275760" cy="275760"/>
            </a:xfrm>
            <a:custGeom>
              <a:avLst/>
              <a:gdLst>
                <a:gd name="textAreaLeft" fmla="*/ 0 w 275760"/>
                <a:gd name="textAreaRight" fmla="*/ 276120 w 275760"/>
                <a:gd name="textAreaTop" fmla="*/ 0 h 275760"/>
                <a:gd name="textAreaBottom" fmla="*/ 276120 h 275760"/>
              </a:gdLst>
              <a:ahLst/>
              <a:cxnLst/>
              <a:rect l="textAreaLeft" t="textAreaTop" r="textAreaRight" b="textAreaBottom"/>
              <a:pathLst>
                <a:path w="6764" h="6764">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3" name="Google Shape;315;p41"/>
            <p:cNvSpPr/>
            <p:nvPr/>
          </p:nvSpPr>
          <p:spPr>
            <a:xfrm>
              <a:off x="6799320" y="936360"/>
              <a:ext cx="146880" cy="144000"/>
            </a:xfrm>
            <a:custGeom>
              <a:avLst/>
              <a:gdLst>
                <a:gd name="textAreaLeft" fmla="*/ 0 w 146880"/>
                <a:gd name="textAreaRight" fmla="*/ 147240 w 146880"/>
                <a:gd name="textAreaTop" fmla="*/ 0 h 144000"/>
                <a:gd name="textAreaBottom" fmla="*/ 144360 h 144000"/>
              </a:gdLst>
              <a:ahLst/>
              <a:cxnLst/>
              <a:rect l="textAreaLeft" t="textAreaTop" r="textAreaRight" b="textAreaBottom"/>
              <a:pathLst>
                <a:path w="3607" h="3542">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lt1"/>
            </a:solidFill>
            <a:ln w="0">
              <a:noFill/>
            </a:ln>
          </p:spPr>
          <p:style>
            <a:lnRef idx="0"/>
            <a:fillRef idx="0"/>
            <a:effectRef idx="0"/>
            <a:fontRef idx="minor"/>
          </p:style>
          <p:txBody>
            <a:bodyPr tIns="72000" bIns="720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4" name="Google Shape;316;p41"/>
            <p:cNvSpPr/>
            <p:nvPr/>
          </p:nvSpPr>
          <p:spPr>
            <a:xfrm>
              <a:off x="6928920" y="906120"/>
              <a:ext cx="37440" cy="37080"/>
            </a:xfrm>
            <a:custGeom>
              <a:avLst/>
              <a:gdLst>
                <a:gd name="textAreaLeft" fmla="*/ 0 w 37440"/>
                <a:gd name="textAreaRight" fmla="*/ 37800 w 37440"/>
                <a:gd name="textAreaTop" fmla="*/ 0 h 37080"/>
                <a:gd name="textAreaBottom" fmla="*/ 37440 h 37080"/>
              </a:gdLst>
              <a:ahLst/>
              <a:cxnLst/>
              <a:rect l="textAreaLeft" t="textAreaTop" r="textAreaRight" b="textAreaBottom"/>
              <a:pathLst>
                <a:path w="929" h="918">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lt1"/>
            </a:solidFill>
            <a:ln w="0">
              <a:noFill/>
            </a:ln>
          </p:spPr>
          <p:style>
            <a:lnRef idx="0"/>
            <a:fillRef idx="0"/>
            <a:effectRef idx="0"/>
            <a:fontRef idx="minor"/>
          </p:style>
          <p:txBody>
            <a:bodyPr tIns="18720" bIns="187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95" name="Google Shape;317;p41"/>
          <p:cNvGrpSpPr/>
          <p:nvPr/>
        </p:nvGrpSpPr>
        <p:grpSpPr>
          <a:xfrm>
            <a:off x="7376760" y="889560"/>
            <a:ext cx="266040" cy="237960"/>
            <a:chOff x="7376760" y="889560"/>
            <a:chExt cx="266040" cy="237960"/>
          </a:xfrm>
        </p:grpSpPr>
        <p:sp>
          <p:nvSpPr>
            <p:cNvPr id="96" name="Google Shape;318;p41"/>
            <p:cNvSpPr/>
            <p:nvPr/>
          </p:nvSpPr>
          <p:spPr>
            <a:xfrm>
              <a:off x="7385760" y="973440"/>
              <a:ext cx="60840" cy="154080"/>
            </a:xfrm>
            <a:custGeom>
              <a:avLst/>
              <a:gdLst>
                <a:gd name="textAreaLeft" fmla="*/ 0 w 60840"/>
                <a:gd name="textAreaRight" fmla="*/ 61200 w 60840"/>
                <a:gd name="textAreaTop" fmla="*/ 0 h 154080"/>
                <a:gd name="textAreaBottom" fmla="*/ 154440 h 154080"/>
              </a:gdLst>
              <a:ahLst/>
              <a:cxnLst/>
              <a:rect l="textAreaLeft" t="textAreaTop" r="textAreaRight" b="textAreaBottom"/>
              <a:pathLst>
                <a:path w="1502" h="3787">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lt1"/>
            </a:solidFill>
            <a:ln w="0">
              <a:noFill/>
            </a:ln>
          </p:spPr>
          <p:style>
            <a:lnRef idx="0"/>
            <a:fillRef idx="0"/>
            <a:effectRef idx="0"/>
            <a:fontRef idx="minor"/>
          </p:style>
          <p:txBody>
            <a:bodyPr tIns="77040" bIns="770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7" name="Google Shape;319;p41"/>
            <p:cNvSpPr/>
            <p:nvPr/>
          </p:nvSpPr>
          <p:spPr>
            <a:xfrm>
              <a:off x="7376760" y="889560"/>
              <a:ext cx="70200" cy="70200"/>
            </a:xfrm>
            <a:custGeom>
              <a:avLst/>
              <a:gdLst>
                <a:gd name="textAreaLeft" fmla="*/ 0 w 70200"/>
                <a:gd name="textAreaRight" fmla="*/ 70560 w 70200"/>
                <a:gd name="textAreaTop" fmla="*/ 0 h 70200"/>
                <a:gd name="textAreaBottom" fmla="*/ 70560 h 70200"/>
              </a:gdLst>
              <a:ahLst/>
              <a:cxnLst/>
              <a:rect l="textAreaLeft" t="textAreaTop" r="textAreaRight" b="textAreaBottom"/>
              <a:pathLst>
                <a:path w="1728" h="1728">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lt1"/>
            </a:solidFill>
            <a:ln w="0">
              <a:noFill/>
            </a:ln>
          </p:spPr>
          <p:style>
            <a:lnRef idx="0"/>
            <a:fillRef idx="0"/>
            <a:effectRef idx="0"/>
            <a:fontRef idx="minor"/>
          </p:style>
          <p:txBody>
            <a:bodyPr tIns="35280" bIns="352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8" name="Google Shape;320;p41"/>
            <p:cNvSpPr/>
            <p:nvPr/>
          </p:nvSpPr>
          <p:spPr>
            <a:xfrm>
              <a:off x="7479000" y="973440"/>
              <a:ext cx="163800" cy="154080"/>
            </a:xfrm>
            <a:custGeom>
              <a:avLst/>
              <a:gdLst>
                <a:gd name="textAreaLeft" fmla="*/ 0 w 163800"/>
                <a:gd name="textAreaRight" fmla="*/ 164160 w 163800"/>
                <a:gd name="textAreaTop" fmla="*/ 0 h 154080"/>
                <a:gd name="textAreaBottom" fmla="*/ 154440 h 154080"/>
              </a:gdLst>
              <a:ahLst/>
              <a:cxnLst/>
              <a:rect l="textAreaLeft" t="textAreaTop" r="textAreaRight" b="textAreaBottom"/>
              <a:pathLst>
                <a:path w="4026" h="3787">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lt1"/>
            </a:solidFill>
            <a:ln w="0">
              <a:noFill/>
            </a:ln>
          </p:spPr>
          <p:style>
            <a:lnRef idx="0"/>
            <a:fillRef idx="0"/>
            <a:effectRef idx="0"/>
            <a:fontRef idx="minor"/>
          </p:style>
          <p:txBody>
            <a:bodyPr tIns="77040" bIns="770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sp>
        <p:nvSpPr>
          <p:cNvPr id="99" name="Google Shape;321;p41"/>
          <p:cNvSpPr/>
          <p:nvPr/>
        </p:nvSpPr>
        <p:spPr>
          <a:xfrm>
            <a:off x="8090280" y="889560"/>
            <a:ext cx="291240" cy="237600"/>
          </a:xfrm>
          <a:custGeom>
            <a:avLst/>
            <a:gdLst>
              <a:gd name="textAreaLeft" fmla="*/ 0 w 291240"/>
              <a:gd name="textAreaRight" fmla="*/ 291600 w 291240"/>
              <a:gd name="textAreaTop" fmla="*/ 0 h 237600"/>
              <a:gd name="textAreaBottom" fmla="*/ 237960 h 237600"/>
            </a:gdLst>
            <a:ahLst/>
            <a:cxnLst/>
            <a:rect l="textAreaLeft" t="textAreaTop" r="textAreaRight" b="textAreaBottom"/>
            <a:pathLst>
              <a:path w="7144" h="5835">
                <a:moveTo>
                  <a:pt x="4620" y="0"/>
                </a:moveTo>
                <a:cubicBezTo>
                  <a:pt x="3727" y="0"/>
                  <a:pt x="2977" y="691"/>
                  <a:pt x="2905" y="1572"/>
                </a:cubicBezTo>
                <a:cubicBezTo>
                  <a:pt x="2727" y="1548"/>
                  <a:pt x="2358" y="1441"/>
                  <a:pt x="2262" y="1405"/>
                </a:cubicBezTo>
                <a:cubicBezTo>
                  <a:pt x="1643" y="1203"/>
                  <a:pt x="1072" y="810"/>
                  <a:pt x="631" y="322"/>
                </a:cubicBezTo>
                <a:cubicBezTo>
                  <a:pt x="596" y="298"/>
                  <a:pt x="572" y="274"/>
                  <a:pt x="524" y="262"/>
                </a:cubicBezTo>
                <a:cubicBezTo>
                  <a:pt x="517" y="261"/>
                  <a:pt x="509" y="260"/>
                  <a:pt x="501" y="260"/>
                </a:cubicBezTo>
                <a:cubicBezTo>
                  <a:pt x="436" y="260"/>
                  <a:pt x="367" y="304"/>
                  <a:pt x="346" y="357"/>
                </a:cubicBezTo>
                <a:cubicBezTo>
                  <a:pt x="238" y="572"/>
                  <a:pt x="179" y="810"/>
                  <a:pt x="179" y="1048"/>
                </a:cubicBezTo>
                <a:cubicBezTo>
                  <a:pt x="179" y="1393"/>
                  <a:pt x="286" y="1727"/>
                  <a:pt x="476" y="1977"/>
                </a:cubicBezTo>
                <a:cubicBezTo>
                  <a:pt x="466" y="1975"/>
                  <a:pt x="456" y="1974"/>
                  <a:pt x="446" y="1974"/>
                </a:cubicBezTo>
                <a:cubicBezTo>
                  <a:pt x="397" y="1974"/>
                  <a:pt x="349" y="1997"/>
                  <a:pt x="310" y="2036"/>
                </a:cubicBezTo>
                <a:cubicBezTo>
                  <a:pt x="286" y="2060"/>
                  <a:pt x="286" y="2108"/>
                  <a:pt x="274" y="2143"/>
                </a:cubicBezTo>
                <a:lnTo>
                  <a:pt x="274" y="2203"/>
                </a:lnTo>
                <a:cubicBezTo>
                  <a:pt x="274" y="2655"/>
                  <a:pt x="476" y="3072"/>
                  <a:pt x="822" y="3358"/>
                </a:cubicBezTo>
                <a:cubicBezTo>
                  <a:pt x="786" y="3370"/>
                  <a:pt x="774" y="3405"/>
                  <a:pt x="762" y="3417"/>
                </a:cubicBezTo>
                <a:cubicBezTo>
                  <a:pt x="750" y="3465"/>
                  <a:pt x="727" y="3513"/>
                  <a:pt x="750" y="3548"/>
                </a:cubicBezTo>
                <a:cubicBezTo>
                  <a:pt x="893" y="4024"/>
                  <a:pt x="1262" y="4405"/>
                  <a:pt x="1727" y="4548"/>
                </a:cubicBezTo>
                <a:cubicBezTo>
                  <a:pt x="1310" y="4798"/>
                  <a:pt x="834" y="4941"/>
                  <a:pt x="334" y="4941"/>
                </a:cubicBezTo>
                <a:lnTo>
                  <a:pt x="191" y="4941"/>
                </a:lnTo>
                <a:cubicBezTo>
                  <a:pt x="107" y="4941"/>
                  <a:pt x="36" y="5001"/>
                  <a:pt x="12" y="5084"/>
                </a:cubicBezTo>
                <a:cubicBezTo>
                  <a:pt x="0" y="5156"/>
                  <a:pt x="48" y="5239"/>
                  <a:pt x="107" y="5263"/>
                </a:cubicBezTo>
                <a:cubicBezTo>
                  <a:pt x="727" y="5632"/>
                  <a:pt x="1465" y="5834"/>
                  <a:pt x="2191" y="5834"/>
                </a:cubicBezTo>
                <a:cubicBezTo>
                  <a:pt x="3072" y="5834"/>
                  <a:pt x="3905" y="5560"/>
                  <a:pt x="4596" y="5060"/>
                </a:cubicBezTo>
                <a:cubicBezTo>
                  <a:pt x="4691" y="5001"/>
                  <a:pt x="4691" y="4858"/>
                  <a:pt x="4620" y="4786"/>
                </a:cubicBezTo>
                <a:cubicBezTo>
                  <a:pt x="4587" y="4754"/>
                  <a:pt x="4544" y="4735"/>
                  <a:pt x="4499" y="4735"/>
                </a:cubicBezTo>
                <a:cubicBezTo>
                  <a:pt x="4463" y="4735"/>
                  <a:pt x="4426" y="4748"/>
                  <a:pt x="4394" y="4775"/>
                </a:cubicBezTo>
                <a:cubicBezTo>
                  <a:pt x="3763" y="5215"/>
                  <a:pt x="3013" y="5489"/>
                  <a:pt x="2191" y="5489"/>
                </a:cubicBezTo>
                <a:cubicBezTo>
                  <a:pt x="1727" y="5489"/>
                  <a:pt x="1262" y="5394"/>
                  <a:pt x="846" y="5239"/>
                </a:cubicBezTo>
                <a:cubicBezTo>
                  <a:pt x="1369" y="5144"/>
                  <a:pt x="1846" y="4917"/>
                  <a:pt x="2262" y="4584"/>
                </a:cubicBezTo>
                <a:cubicBezTo>
                  <a:pt x="2310" y="4536"/>
                  <a:pt x="2334" y="4477"/>
                  <a:pt x="2322" y="4417"/>
                </a:cubicBezTo>
                <a:cubicBezTo>
                  <a:pt x="2310" y="4346"/>
                  <a:pt x="2239" y="4286"/>
                  <a:pt x="2155" y="4286"/>
                </a:cubicBezTo>
                <a:cubicBezTo>
                  <a:pt x="1739" y="4263"/>
                  <a:pt x="1369" y="4048"/>
                  <a:pt x="1167" y="3691"/>
                </a:cubicBezTo>
                <a:cubicBezTo>
                  <a:pt x="1250" y="3691"/>
                  <a:pt x="1358" y="3667"/>
                  <a:pt x="1441" y="3643"/>
                </a:cubicBezTo>
                <a:cubicBezTo>
                  <a:pt x="1524" y="3632"/>
                  <a:pt x="1584" y="3572"/>
                  <a:pt x="1584" y="3489"/>
                </a:cubicBezTo>
                <a:cubicBezTo>
                  <a:pt x="1596" y="3405"/>
                  <a:pt x="1536" y="3334"/>
                  <a:pt x="1441" y="3298"/>
                </a:cubicBezTo>
                <a:cubicBezTo>
                  <a:pt x="1000" y="3191"/>
                  <a:pt x="667" y="2822"/>
                  <a:pt x="596" y="2381"/>
                </a:cubicBezTo>
                <a:lnTo>
                  <a:pt x="596" y="2381"/>
                </a:lnTo>
                <a:cubicBezTo>
                  <a:pt x="727" y="2405"/>
                  <a:pt x="869" y="2417"/>
                  <a:pt x="1000" y="2417"/>
                </a:cubicBezTo>
                <a:cubicBezTo>
                  <a:pt x="1084" y="2417"/>
                  <a:pt x="1143" y="2358"/>
                  <a:pt x="1167" y="2274"/>
                </a:cubicBezTo>
                <a:cubicBezTo>
                  <a:pt x="1179" y="2203"/>
                  <a:pt x="1131" y="2143"/>
                  <a:pt x="1072" y="2108"/>
                </a:cubicBezTo>
                <a:cubicBezTo>
                  <a:pt x="703" y="1881"/>
                  <a:pt x="476" y="1488"/>
                  <a:pt x="476" y="1048"/>
                </a:cubicBezTo>
                <a:cubicBezTo>
                  <a:pt x="476" y="953"/>
                  <a:pt x="488" y="846"/>
                  <a:pt x="524" y="738"/>
                </a:cubicBezTo>
                <a:cubicBezTo>
                  <a:pt x="965" y="1191"/>
                  <a:pt x="1524" y="1524"/>
                  <a:pt x="2120" y="1727"/>
                </a:cubicBezTo>
                <a:cubicBezTo>
                  <a:pt x="2120" y="1727"/>
                  <a:pt x="2715" y="1905"/>
                  <a:pt x="2929" y="1917"/>
                </a:cubicBezTo>
                <a:lnTo>
                  <a:pt x="3024" y="1917"/>
                </a:lnTo>
                <a:cubicBezTo>
                  <a:pt x="3096" y="1917"/>
                  <a:pt x="3167" y="1869"/>
                  <a:pt x="3191" y="1798"/>
                </a:cubicBezTo>
                <a:cubicBezTo>
                  <a:pt x="3203" y="1786"/>
                  <a:pt x="3203" y="1750"/>
                  <a:pt x="3203" y="1738"/>
                </a:cubicBezTo>
                <a:lnTo>
                  <a:pt x="3203" y="1703"/>
                </a:lnTo>
                <a:cubicBezTo>
                  <a:pt x="3203" y="953"/>
                  <a:pt x="3810" y="334"/>
                  <a:pt x="4572" y="334"/>
                </a:cubicBezTo>
                <a:cubicBezTo>
                  <a:pt x="4941" y="334"/>
                  <a:pt x="5287" y="488"/>
                  <a:pt x="5549" y="750"/>
                </a:cubicBezTo>
                <a:cubicBezTo>
                  <a:pt x="5585" y="787"/>
                  <a:pt x="5621" y="802"/>
                  <a:pt x="5663" y="802"/>
                </a:cubicBezTo>
                <a:cubicBezTo>
                  <a:pt x="5676" y="802"/>
                  <a:pt x="5689" y="801"/>
                  <a:pt x="5703" y="798"/>
                </a:cubicBezTo>
                <a:cubicBezTo>
                  <a:pt x="5882" y="762"/>
                  <a:pt x="6049" y="738"/>
                  <a:pt x="6203" y="679"/>
                </a:cubicBezTo>
                <a:lnTo>
                  <a:pt x="6203" y="679"/>
                </a:lnTo>
                <a:cubicBezTo>
                  <a:pt x="6120" y="762"/>
                  <a:pt x="6013" y="857"/>
                  <a:pt x="5894" y="917"/>
                </a:cubicBezTo>
                <a:cubicBezTo>
                  <a:pt x="5822" y="965"/>
                  <a:pt x="5787" y="1048"/>
                  <a:pt x="5822" y="1143"/>
                </a:cubicBezTo>
                <a:cubicBezTo>
                  <a:pt x="5846" y="1203"/>
                  <a:pt x="5930" y="1250"/>
                  <a:pt x="6001" y="1250"/>
                </a:cubicBezTo>
                <a:cubicBezTo>
                  <a:pt x="6144" y="1227"/>
                  <a:pt x="6287" y="1215"/>
                  <a:pt x="6418" y="1167"/>
                </a:cubicBezTo>
                <a:lnTo>
                  <a:pt x="6418" y="1167"/>
                </a:lnTo>
                <a:cubicBezTo>
                  <a:pt x="6299" y="1286"/>
                  <a:pt x="6168" y="1405"/>
                  <a:pt x="6013" y="1512"/>
                </a:cubicBezTo>
                <a:cubicBezTo>
                  <a:pt x="5965" y="1548"/>
                  <a:pt x="5941" y="1608"/>
                  <a:pt x="5941" y="1655"/>
                </a:cubicBezTo>
                <a:lnTo>
                  <a:pt x="5941" y="1679"/>
                </a:lnTo>
                <a:lnTo>
                  <a:pt x="5941" y="1703"/>
                </a:lnTo>
                <a:lnTo>
                  <a:pt x="5941" y="1727"/>
                </a:lnTo>
                <a:cubicBezTo>
                  <a:pt x="5941" y="2691"/>
                  <a:pt x="5572" y="3572"/>
                  <a:pt x="4977" y="4227"/>
                </a:cubicBezTo>
                <a:cubicBezTo>
                  <a:pt x="4918" y="4298"/>
                  <a:pt x="4918" y="4405"/>
                  <a:pt x="4977" y="4465"/>
                </a:cubicBezTo>
                <a:cubicBezTo>
                  <a:pt x="5011" y="4499"/>
                  <a:pt x="5053" y="4514"/>
                  <a:pt x="5096" y="4514"/>
                </a:cubicBezTo>
                <a:cubicBezTo>
                  <a:pt x="5143" y="4514"/>
                  <a:pt x="5190" y="4496"/>
                  <a:pt x="5227" y="4465"/>
                </a:cubicBezTo>
                <a:cubicBezTo>
                  <a:pt x="5894" y="3715"/>
                  <a:pt x="6263" y="2762"/>
                  <a:pt x="6287" y="1750"/>
                </a:cubicBezTo>
                <a:cubicBezTo>
                  <a:pt x="6596" y="1524"/>
                  <a:pt x="6846" y="1250"/>
                  <a:pt x="7061" y="917"/>
                </a:cubicBezTo>
                <a:cubicBezTo>
                  <a:pt x="7144" y="857"/>
                  <a:pt x="7132" y="750"/>
                  <a:pt x="7061" y="715"/>
                </a:cubicBezTo>
                <a:cubicBezTo>
                  <a:pt x="7029" y="683"/>
                  <a:pt x="6987" y="667"/>
                  <a:pt x="6937" y="667"/>
                </a:cubicBezTo>
                <a:cubicBezTo>
                  <a:pt x="6912" y="667"/>
                  <a:pt x="6886" y="671"/>
                  <a:pt x="6858" y="679"/>
                </a:cubicBezTo>
                <a:cubicBezTo>
                  <a:pt x="6775" y="726"/>
                  <a:pt x="6680" y="750"/>
                  <a:pt x="6596" y="786"/>
                </a:cubicBezTo>
                <a:cubicBezTo>
                  <a:pt x="6680" y="667"/>
                  <a:pt x="6763" y="512"/>
                  <a:pt x="6823" y="369"/>
                </a:cubicBezTo>
                <a:cubicBezTo>
                  <a:pt x="6834" y="310"/>
                  <a:pt x="6834" y="238"/>
                  <a:pt x="6787" y="191"/>
                </a:cubicBezTo>
                <a:cubicBezTo>
                  <a:pt x="6750" y="153"/>
                  <a:pt x="6703" y="135"/>
                  <a:pt x="6659" y="135"/>
                </a:cubicBezTo>
                <a:cubicBezTo>
                  <a:pt x="6632" y="135"/>
                  <a:pt x="6607" y="142"/>
                  <a:pt x="6584" y="155"/>
                </a:cubicBezTo>
                <a:cubicBezTo>
                  <a:pt x="6322" y="310"/>
                  <a:pt x="6061" y="393"/>
                  <a:pt x="5775" y="441"/>
                </a:cubicBezTo>
                <a:cubicBezTo>
                  <a:pt x="5465" y="143"/>
                  <a:pt x="5048" y="0"/>
                  <a:pt x="4620" y="0"/>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00" name="Google Shape;322;p41"/>
          <p:cNvSpPr/>
          <p:nvPr/>
        </p:nvSpPr>
        <p:spPr>
          <a:xfrm>
            <a:off x="4295880" y="4362480"/>
            <a:ext cx="4152600" cy="256680"/>
          </a:xfrm>
          <a:prstGeom prst="rect">
            <a:avLst/>
          </a:prstGeom>
          <a:noFill/>
          <a:ln w="0">
            <a:noFill/>
          </a:ln>
        </p:spPr>
        <p:style>
          <a:lnRef idx="0"/>
          <a:fillRef idx="0"/>
          <a:effectRef idx="0"/>
          <a:fontRef idx="minor"/>
        </p:style>
        <p:txBody>
          <a:bodyPr lIns="870823080" rIns="870823080" tIns="-2643840" bIns="-2643840" anchor="ctr">
            <a:spAutoFit/>
          </a:bodyPr>
          <a:p>
            <a:pPr algn="r" defTabSz="914400">
              <a:lnSpc>
                <a:spcPct val="100000"/>
              </a:lnSpc>
              <a:tabLst>
                <a:tab algn="l" pos="0"/>
              </a:tabLst>
            </a:pPr>
            <a:r>
              <a:rPr b="0" lang="en" sz="1000" strike="noStrike" u="none">
                <a:solidFill>
                  <a:schemeClr val="lt1"/>
                </a:solidFill>
                <a:effectLst/>
                <a:uFillTx/>
                <a:latin typeface="Arial"/>
              </a:rPr>
              <a:t>Please keep this slide for attribution</a:t>
            </a:r>
            <a:endParaRPr b="0" lang="en-US" sz="1000" strike="noStrike" u="none">
              <a:solidFill>
                <a:srgbClr val="ffffff"/>
              </a:solidFill>
              <a:effectLst/>
              <a:uFillTx/>
              <a:latin typeface="OpenSymbol"/>
            </a:endParaRPr>
          </a:p>
        </p:txBody>
      </p:sp>
      <p:cxnSp>
        <p:nvCxnSpPr>
          <p:cNvPr id="101" name="Google Shape;323;p41"/>
          <p:cNvCxnSpPr/>
          <p:nvPr/>
        </p:nvCxnSpPr>
        <p:spPr>
          <a:xfrm>
            <a:off x="-5040" y="1595520"/>
            <a:ext cx="9182160" cy="360"/>
          </a:xfrm>
          <a:prstGeom prst="straightConnector1">
            <a:avLst/>
          </a:prstGeom>
          <a:ln w="9525">
            <a:solidFill>
              <a:srgbClr val="ebe8de"/>
            </a:solidFill>
            <a:round/>
          </a:ln>
        </p:spPr>
      </p:cxnSp>
      <p:cxnSp>
        <p:nvCxnSpPr>
          <p:cNvPr id="102" name="Google Shape;324;p41"/>
          <p:cNvCxnSpPr/>
          <p:nvPr/>
        </p:nvCxnSpPr>
        <p:spPr>
          <a:xfrm>
            <a:off x="-5040" y="3412440"/>
            <a:ext cx="9182160" cy="360"/>
          </a:xfrm>
          <a:prstGeom prst="straightConnector1">
            <a:avLst/>
          </a:prstGeom>
          <a:ln w="9525">
            <a:solidFill>
              <a:srgbClr val="ebe8de"/>
            </a:solidFill>
            <a:round/>
          </a:ln>
        </p:spPr>
      </p:cxn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Corporate Sustainability by Slidesgo">
  <a:themeElements>
    <a:clrScheme name="Simple Light">
      <a:dk1>
        <a:srgbClr val="2b3d2d"/>
      </a:dk1>
      <a:lt1>
        <a:srgbClr val="ebe8de"/>
      </a:lt1>
      <a:dk2>
        <a:srgbClr val="365f3c"/>
      </a:dk2>
      <a:lt2>
        <a:srgbClr val="eeeeee"/>
      </a:lt2>
      <a:accent1>
        <a:srgbClr val="ffffff"/>
      </a:accent1>
      <a:accent2>
        <a:srgbClr val="ffffff"/>
      </a:accent2>
      <a:accent3>
        <a:srgbClr val="ffffff"/>
      </a:accent3>
      <a:accent4>
        <a:srgbClr val="ffffff"/>
      </a:accent4>
      <a:accent5>
        <a:srgbClr val="ffffff"/>
      </a:accent5>
      <a:accent6>
        <a:srgbClr val="ffffff"/>
      </a:accent6>
      <a:hlink>
        <a:srgbClr val="2b3d2d"/>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LibreOffice/25.8.1.1$Linux_X86_64 LibreOffice_project/580$Build-1</Application>
  <AppVersion>15.0000</AppVersion>
  <Company>Microsoft Corporation</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2026-09-20T01:49:07Z</dcterms:created>
  <dc:creator>Slidesgo AI</dc:creator>
  <dc:description/>
  <dc:language>en-US</dc:language>
  <cp:lastModifiedBy>Unknown Creator</cp:lastModifiedBy>
  <dcterms:modified xsi:type="dcterms:W3CDTF">2026-09-20T01:49:07Z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9</vt:r8>
  </property>
  <property fmtid="{D5CDD505-2E9C-101B-9397-08002B2CF9AE}" pid="3" name="SlidesgoGeneratedBy">
    <vt:lpwstr>slidesgo-ai</vt:lpwstr>
  </property>
  <property fmtid="{D5CDD505-2E9C-101B-9397-08002B2CF9AE}" pid="4" name="SlidesgoPresentationUuid">
    <vt:lpwstr>a2c99eda-2557-4023-9532-829f4c3ba84e</vt:lpwstr>
  </property>
</Properties>
</file>